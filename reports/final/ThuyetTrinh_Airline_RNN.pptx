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6.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6c4f192444697" /><Relationship Type="http://schemas.openxmlformats.org/officeDocument/2006/relationships/extended-properties" Target="/docProps/app.xml" Id="R577616806f5b4678" /><Relationship Type="http://schemas.openxmlformats.org/officeDocument/2006/relationships/officeDocument" Target="/ppt/presentation.xml" Id="R1a70f31ca15245f2" /></Relationships>
</file>

<file path=ppt/presentation.xml><?xml version="1.0" encoding="utf-8"?>
<p:presentation xmlns:p="http://schemas.openxmlformats.org/presentationml/2006/main">
  <p:sldMasterIdLst>
    <p:sldMasterId xmlns:r="http://schemas.openxmlformats.org/officeDocument/2006/relationships" id="2147483648" r:id="R5405263b0f924ca6"/>
  </p:sldMasterIdLst>
  <p:notesMasterIdLst>
    <p:notesMasterId xmlns:r="http://schemas.openxmlformats.org/officeDocument/2006/relationships" r:id="R96525896731b413c"/>
  </p:notesMasterIdLst>
  <p:sldIdLst>
    <p:sldId xmlns:r="http://schemas.openxmlformats.org/officeDocument/2006/relationships" id="256" r:id="R7a216d0b6b4f4b56"/>
    <p:sldId xmlns:r="http://schemas.openxmlformats.org/officeDocument/2006/relationships" id="257" r:id="R54436e87e23f4b61"/>
    <p:sldId xmlns:r="http://schemas.openxmlformats.org/officeDocument/2006/relationships" id="258" r:id="Re98bad47f1a14bc8"/>
    <p:sldId xmlns:r="http://schemas.openxmlformats.org/officeDocument/2006/relationships" id="259" r:id="Refedb38ae1d64284"/>
    <p:sldId xmlns:r="http://schemas.openxmlformats.org/officeDocument/2006/relationships" id="260" r:id="R07de289c9bcf4364"/>
    <p:sldId xmlns:r="http://schemas.openxmlformats.org/officeDocument/2006/relationships" id="261" r:id="Red1fc9e24d6f4ab1"/>
    <p:sldId xmlns:r="http://schemas.openxmlformats.org/officeDocument/2006/relationships" id="262" r:id="R5b3ca14ff55b4ee1"/>
    <p:sldId xmlns:r="http://schemas.openxmlformats.org/officeDocument/2006/relationships" id="263" r:id="R9ed6fbb994e145be"/>
    <p:sldId xmlns:r="http://schemas.openxmlformats.org/officeDocument/2006/relationships" id="264" r:id="R001b175890c848fe"/>
    <p:sldId xmlns:r="http://schemas.openxmlformats.org/officeDocument/2006/relationships" id="265" r:id="Rc847dc1979cc4cd0"/>
    <p:sldId xmlns:r="http://schemas.openxmlformats.org/officeDocument/2006/relationships" id="266" r:id="R91661f8e69664d3a"/>
    <p:sldId xmlns:r="http://schemas.openxmlformats.org/officeDocument/2006/relationships" id="267" r:id="R316047dd721b49c5"/>
    <p:sldId xmlns:r="http://schemas.openxmlformats.org/officeDocument/2006/relationships" id="268" r:id="R73825fd8b3b4422d"/>
    <p:sldId xmlns:r="http://schemas.openxmlformats.org/officeDocument/2006/relationships" id="269" r:id="R8fc3390e56df4b86"/>
    <p:sldId xmlns:r="http://schemas.openxmlformats.org/officeDocument/2006/relationships" id="270" r:id="Rdc3f2c3e4a8b489d"/>
    <p:sldId xmlns:r="http://schemas.openxmlformats.org/officeDocument/2006/relationships" id="271" r:id="R436d1d9363c14a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de9c89896d4227" /><Relationship Type="http://schemas.openxmlformats.org/officeDocument/2006/relationships/slideMaster" Target="/ppt/slideMasters/slideMaster1.xml" Id="R5405263b0f924ca6" /><Relationship Type="http://schemas.openxmlformats.org/officeDocument/2006/relationships/notesMaster" Target="/ppt/notesMasters/notesMaster1.xml" Id="R96525896731b413c" /><Relationship Type="http://schemas.openxmlformats.org/officeDocument/2006/relationships/presProps" Target="/ppt/presProps.xml" Id="Refcbed1faee74014" /><Relationship Type="http://schemas.openxmlformats.org/officeDocument/2006/relationships/tableStyles" Target="/ppt/tableStyles.xml" Id="Rf0461b2a60dc40fa" /><Relationship Type="http://schemas.openxmlformats.org/officeDocument/2006/relationships/slide" Target="/ppt/slides/slide1.xml" Id="R7a216d0b6b4f4b56" /><Relationship Type="http://schemas.openxmlformats.org/officeDocument/2006/relationships/slide" Target="/ppt/slides/slide2.xml" Id="R54436e87e23f4b61" /><Relationship Type="http://schemas.openxmlformats.org/officeDocument/2006/relationships/slide" Target="/ppt/slides/slide3.xml" Id="Re98bad47f1a14bc8" /><Relationship Type="http://schemas.openxmlformats.org/officeDocument/2006/relationships/slide" Target="/ppt/slides/slide4.xml" Id="Refedb38ae1d64284" /><Relationship Type="http://schemas.openxmlformats.org/officeDocument/2006/relationships/slide" Target="/ppt/slides/slide5.xml" Id="R07de289c9bcf4364" /><Relationship Type="http://schemas.openxmlformats.org/officeDocument/2006/relationships/slide" Target="/ppt/slides/slide6.xml" Id="Red1fc9e24d6f4ab1" /><Relationship Type="http://schemas.openxmlformats.org/officeDocument/2006/relationships/slide" Target="/ppt/slides/slide7.xml" Id="R5b3ca14ff55b4ee1" /><Relationship Type="http://schemas.openxmlformats.org/officeDocument/2006/relationships/slide" Target="/ppt/slides/slide8.xml" Id="R9ed6fbb994e145be" /><Relationship Type="http://schemas.openxmlformats.org/officeDocument/2006/relationships/slide" Target="/ppt/slides/slide9.xml" Id="R001b175890c848fe" /><Relationship Type="http://schemas.openxmlformats.org/officeDocument/2006/relationships/slide" Target="/ppt/slides/slide10.xml" Id="Rc847dc1979cc4cd0" /><Relationship Type="http://schemas.openxmlformats.org/officeDocument/2006/relationships/slide" Target="/ppt/slides/slide11.xml" Id="R91661f8e69664d3a" /><Relationship Type="http://schemas.openxmlformats.org/officeDocument/2006/relationships/slide" Target="/ppt/slides/slide12.xml" Id="R316047dd721b49c5" /><Relationship Type="http://schemas.openxmlformats.org/officeDocument/2006/relationships/slide" Target="/ppt/slides/slide13.xml" Id="R73825fd8b3b4422d" /><Relationship Type="http://schemas.openxmlformats.org/officeDocument/2006/relationships/slide" Target="/ppt/slides/slide14.xml" Id="R8fc3390e56df4b86" /><Relationship Type="http://schemas.openxmlformats.org/officeDocument/2006/relationships/slide" Target="/ppt/slides/slide15.xml" Id="Rdc3f2c3e4a8b489d" /><Relationship Type="http://schemas.openxmlformats.org/officeDocument/2006/relationships/slide" Target="/ppt/slides/slide16.xml" Id="R436d1d9363c1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15a935a3174e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3cc33dde894e98" /><Relationship Type="http://schemas.openxmlformats.org/officeDocument/2006/relationships/notesMaster" Target="/ppt/notesMasters/notesMaster1.xml" Id="Raef696147c7749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83f61b12e44e71" /><Relationship Type="http://schemas.openxmlformats.org/officeDocument/2006/relationships/notesMaster" Target="/ppt/notesMasters/notesMaster1.xml" Id="R17eb05037d2a45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ce620fb3c742e4" /><Relationship Type="http://schemas.openxmlformats.org/officeDocument/2006/relationships/notesMaster" Target="/ppt/notesMasters/notesMaster1.xml" Id="R125ee380910b4c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25d3bef7574ac9" /><Relationship Type="http://schemas.openxmlformats.org/officeDocument/2006/relationships/notesMaster" Target="/ppt/notesMasters/notesMaster1.xml" Id="R2a54bd3b006147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5d16ff79b94b8c" /><Relationship Type="http://schemas.openxmlformats.org/officeDocument/2006/relationships/notesMaster" Target="/ppt/notesMasters/notesMaster1.xml" Id="Rbea3c68364a449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3e8cd76bde469b" /><Relationship Type="http://schemas.openxmlformats.org/officeDocument/2006/relationships/notesMaster" Target="/ppt/notesMasters/notesMaster1.xml" Id="Rf831992b576640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fa830ed69441ea" /><Relationship Type="http://schemas.openxmlformats.org/officeDocument/2006/relationships/notesMaster" Target="/ppt/notesMasters/notesMaster1.xml" Id="Rcf049cbc822748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7e31d47ec42a8" /><Relationship Type="http://schemas.openxmlformats.org/officeDocument/2006/relationships/notesMaster" Target="/ppt/notesMasters/notesMaster1.xml" Id="Ra152f4ed615449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d7c8efab084ec7" /><Relationship Type="http://schemas.openxmlformats.org/officeDocument/2006/relationships/notesMaster" Target="/ppt/notesMasters/notesMaster1.xml" Id="Rc4469b4cd0ba4b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618dd834674874" /><Relationship Type="http://schemas.openxmlformats.org/officeDocument/2006/relationships/notesMaster" Target="/ppt/notesMasters/notesMaster1.xml" Id="R015d380001d643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2cc782f36c4e03" /><Relationship Type="http://schemas.openxmlformats.org/officeDocument/2006/relationships/notesMaster" Target="/ppt/notesMasters/notesMaster1.xml" Id="Rf79e0113f97d4b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37e2fc07fc4718" /><Relationship Type="http://schemas.openxmlformats.org/officeDocument/2006/relationships/notesMaster" Target="/ppt/notesMasters/notesMaster1.xml" Id="Rcea3b6458fef4a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797447cdca472b" /><Relationship Type="http://schemas.openxmlformats.org/officeDocument/2006/relationships/notesMaster" Target="/ppt/notesMasters/notesMaster1.xml" Id="R269ebb4ff9d345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f70da671a54a2e" /><Relationship Type="http://schemas.openxmlformats.org/officeDocument/2006/relationships/notesMaster" Target="/ppt/notesMasters/notesMaster1.xml" Id="R7e53be83bc9246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e63729ba074460" /><Relationship Type="http://schemas.openxmlformats.org/officeDocument/2006/relationships/notesMaster" Target="/ppt/notesMasters/notesMaster1.xml" Id="R918713578e1443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e1fb28cf9c4009" /><Relationship Type="http://schemas.openxmlformats.org/officeDocument/2006/relationships/notesMaster" Target="/ppt/notesMasters/notesMaster1.xml" Id="R4a484335ddef47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và các bạn. Đề tài nghiên cứu RNN cho sentiment của tweet hàng không với ba lớp negative, neutral và positive. Trình bày tập trung vào audit nguồn, protocol tái lập, các đối chứng có kiểm soát và kết quả thực đo. Đề tài: Xây dựng mô hình phân tích cảm xúc khách hàng trong ngành hàng không sử dụng RNN. Ba thành viên gồm Trịnh Nguyễn Anh Hào 2611307, Lê Huy Huân 2611308, Nguyễn Nam Triều Tiên 2611323.</a:t>
            </a:r>
          </a:p>
          <a:p xmlns:a="http://schemas.openxmlformats.org/drawingml/2006/main">
            <a:r>
              <a:t/>
            </a:r>
          </a:p>
          <a:p xmlns:a="http://schemas.openxmlformats.org/drawingml/2006/main">
            <a:r>
              <a:t>Nguồn: Báo cáo Word; results/tables/test_summary.csv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notebook ghi RNN nhưng code thực tế dùng LSTM và bỏ toàn bộ neutral, sau đó bỏ 5.000 negative đầu. Nguồn fit tokenizer trên corpus trước chia tập. Audit A1 phát hiện 68 tweet_id và 85 clean text trùng qua splits. Những khác biệt này giới hạn cách so sánh với con số 90,32%. Nhóm giữ yêu cầu RNN, vì thế gọi A1 là baseline chuyển thể, không công bố tái lập chính xác nguồn. Chưa lượng hóa mức Accuracy tăng do overlap.</a:t>
            </a:r>
          </a:p>
          <a:p xmlns:a="http://schemas.openxmlformats.org/drawingml/2006/main">
            <a:r>
              <a:t/>
            </a:r>
          </a:p>
          <a:p xmlns:a="http://schemas.openxmlformats.org/drawingml/2006/main">
            <a:r>
              <a:t>Nguồn: https://www.kaggle.com/code/chibuzorokocha/airline-sentiment-analysis-90-accuracy-using-rnn ; reports/source_audit.md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Twitter US Airline Sentiment của CrowdFlower chứa 14.640 dòng với negative 9.178, neutral 3.099 và positive 2.363. Mô hình chỉ nhận văn bản. Airline không làm feature, tweet_id hỗ trợ audit và grouping. Lớp negative chiếm đa số nên Accuracy riêng lẻ dễ che hiệu quả thấp ở neutral/positive. Majority baseline trên test sạch đạt 63,66% Accuracy nhưng Macro-F1 chỉ 0,2593. Các giá trị trong biểu đồ được làm tròn sáu chữ số thập phân; CSV giữ độ chính xác gốc.</a:t>
            </a:r>
          </a:p>
          <a:p xmlns:a="http://schemas.openxmlformats.org/drawingml/2006/main">
            <a:r>
              <a:t/>
            </a:r>
          </a:p>
          <a:p xmlns:a="http://schemas.openxmlformats.org/drawingml/2006/main">
            <a:r>
              <a:t>Nguồn: https://www.kaggle.com/datasets/crowdflower/twitter-airline-sentiment ; results/tables/dataset.csv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sau audit còn 14.353 tweet. Nhóm trùng được nối bắc cầu bằng tweet_id, canonical raw text hoặc clean text. Mọi thành viên nhóm cùng split nên loại được overlap theo định nghĩa này. Stratification cố gắng giữ tỷ lệ lớp, số dòng thực tế lệch nhẹ tỷ lệ lý tưởng do nhóm không thể tách. Train-only vocabulary và test gate là hai cơ chế riêng. Chúng không loại được tất cả quan hệ ngữ nghĩa hoặc hội thoại gần nhau.</a:t>
            </a:r>
          </a:p>
          <a:p xmlns:a="http://schemas.openxmlformats.org/drawingml/2006/main">
            <a:r>
              <a:t/>
            </a:r>
          </a:p>
          <a:p xmlns:a="http://schemas.openxmlformats.org/drawingml/2006/main">
            <a:r>
              <a:t>Nguồn: results/tables/dataset_splits.csv ; results/metrics/artifact_verification.json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token tra embedding 128 chiều rồi đi qua RNN. Trạng thái hiện tại là tanh của tổng biến đổi tuyến tính embedding và trạng thái trước. Mạng lấy trạng thái cuối của chuỗi đã masking, qua Dense100 và Dense3. Riêng RNN có H(D+H+1)=63.700 tham số, embedding có 512.000 nên chiếm phần lớn tổng. Padding ID0 được mask để không đưa phần đệm vào nội dung. Toàn bộ 22 run đều là RNN.</a:t>
            </a:r>
          </a:p>
          <a:p xmlns:a="http://schemas.openxmlformats.org/drawingml/2006/main">
            <a:r>
              <a:t/>
            </a:r>
          </a:p>
          <a:p xmlns:a="http://schemas.openxmlformats.org/drawingml/2006/main">
            <a:r>
              <a:t>Nguồn: https://keras.io/api/layers/recurrent_layers/simple_rnn/ ; https://keras.io/api/layers/core_layers/embedding/ ; results/tables/final_architecture.csv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Checkpoint dùng Macro-F1 lớn nhất trên toàn validation, tie thì val loss thấp hơn. Early Stopping giữ một mốc riêng với min_delta, nên không nhất thiết cùng checkpoint best. History lưu metric và wall time. Dropout giúp regularization, gradient clipping giới hạn exploding gradient nhưng không chữa hoàn toàn vanishing gradient. Main model có class weighting ở B5, validation metric không nhân class weights. Tổng wall time training của 22 run khoảng 19,91 phút trên CPU này.</a:t>
            </a:r>
          </a:p>
          <a:p xmlns:a="http://schemas.openxmlformats.org/drawingml/2006/main">
            <a:r>
              <a:t/>
            </a:r>
          </a:p>
          <a:p xmlns:a="http://schemas.openxmlformats.org/drawingml/2006/main">
            <a:r>
              <a:t>Nguồn: results/tables/final_training_configuration.json ; environment/ ; https://arxiv.org/abs/1211.5063 ; https://arxiv.org/abs/1412.6980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giữ source pipeline, chỉ chuyển mạng hồi quy sang RNN và dùng learning rate tường minh. A2 sạch hơn nhưng vẫn source cleaner và không masking/clipping; nhiều thành phần khác nên không phải ablation một yếu tố. Seed42 dừng epoch6 với checkpoint1 và thiên negative. Hai seed khác tốt hơn, vì vậy độ lệch chuẩn cao là thông tin chính. Nhóm không loại run xấu và không lấy seed 3407 làm đại diện cho mean A2.</a:t>
            </a:r>
          </a:p>
          <a:p xmlns:a="http://schemas.openxmlformats.org/drawingml/2006/main">
            <a:r>
              <a:t/>
            </a:r>
          </a:p>
          <a:p xmlns:a="http://schemas.openxmlformats.org/drawingml/2006/main">
            <a:r>
              <a:t>Nguồn: results/tables/test_summary.csv ; results/tables/test_runs.csv ; reports/experiment_chapter.md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chính có sáu configurations, gồm mốc C0 và năm thay đổi độc lập trong ba nhóm nghiên cứu. Tổng tính cả A1/A2 là tám configurations và 22 run. Không khảo sát dropout, learning rate, embedding dimension hoặc vocabulary size trong lần chạy này. B1-60 giữ nguyên mọi thứ trừ T, B3 thay H và B5 thay class weights. Không có test metrics cho các cấu hình B chưa thắng vì test chỉ dành cho đánh giá cuối.</a:t>
            </a:r>
          </a:p>
          <a:p xmlns:a="http://schemas.openxmlformats.org/drawingml/2006/main">
            <a:r>
              <a:t/>
            </a:r>
          </a:p>
          <a:p xmlns:a="http://schemas.openxmlformats.org/drawingml/2006/main">
            <a:r>
              <a:t>Nguồn: configs/ ; results/tables/experiment_comparison.csv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B5 đạt mean validation Macro-F1 cao nhất 0,6926. Bar biểu diễn mean, SD của từng cấu hình có trong bảng Word/CSV. B3-128 và T20 quanh 0,6724 nhưng thấp hơn B5. Rule chọn xét Macro-F1 trước, nếu gần top dưới 0,005 mới dùng tham số rồi thời gian. B5 thắng nên chưa cần tie-break. Seed demo 3407 có Macro-F1 validation trung vị, không chọn seed tốt nhất trên test. Các giá trị trong biểu đồ được làm tròn sáu chữ số thập phân; CSV giữ độ chính xác gốc.</a:t>
            </a:r>
          </a:p>
          <a:p xmlns:a="http://schemas.openxmlformats.org/drawingml/2006/main">
            <a:r>
              <a:t/>
            </a:r>
          </a:p>
          <a:p xmlns:a="http://schemas.openxmlformats.org/drawingml/2006/main">
            <a:r>
              <a:t>Nguồn: results/tables/validation_summary.csv ; results/metrics/final_selection.json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bố token sau P0 có median 20, max train 34. T60 không thêm ngữ cảnh so với T40 nên kết quả validation bằng nhau từng seed. Time tăng 42% là cost phần đệm ở triển khai hiện tại. H64 nhanh nhất nhưng mean Macro-F1 gần C0, H128 có chất lượng nhỉnh hơn và ít thời gian hơn H196. Chưa có benchmark latency hoặc peakRAM theo config, số trên là wall time training gồm tính metrics, không phải inference time. Các giá trị trong biểu đồ được làm tròn sáu chữ số thập phân; CSV giữ độ chính xác gốc.</a:t>
            </a:r>
          </a:p>
          <a:p xmlns:a="http://schemas.openxmlformats.org/drawingml/2006/main">
            <a:r>
              <a:t/>
            </a:r>
          </a:p>
          <a:p xmlns:a="http://schemas.openxmlformats.org/drawingml/2006/main">
            <a:r>
              <a:t>Nguồn: results/tables/validation_summary.csv ; results/figures/F05_train_lengths.png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Đường F1 được tính ở chế độ inference toàn train/validation, không trung bình minibatch. Checkpoint 16 đạt validation Macro-F1 tốt nhất của seed 3407. Accuracy trong fit có dropout còn validation tắt, nên hai đường không cùng chế độ. B5 train loss còn có class weights, vì vậy không so trị số loss với C0 để kết luận model tốt hơn. Xem ba hình loss, Accuracy, F1 riêng trong Word cho phân tích hội tụ đầy đủ. Các giá trị trong biểu đồ được làm tròn sáu chữ số thập phân; CSV giữ độ chính xác gốc.</a:t>
            </a:r>
          </a:p>
          <a:p xmlns:a="http://schemas.openxmlformats.org/drawingml/2006/main">
            <a:r>
              <a:t/>
            </a:r>
          </a:p>
          <a:p xmlns:a="http://schemas.openxmlformats.org/drawingml/2006/main">
            <a:r>
              <a:t>Nguồn: models/runs/B5-balanced/seed-3407/history.csv ; model_summary.txt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B5 đạt test Accuracy trung bình 75,18%, SD 1,34 điểm phần trăm; Macro-F1 trung bình 0,6914, SD 0,0158; Weighted-F1 trung bình 0,7568. C0 đạt Macro-F1 trung bình 0,6515, nên chênh lệch khoảng 0,0399. Đây là trung bình ba training seeds trên cùng split, không phải ensemble. Ba run chưa chứng minh ý nghĩa thống kê trên những split hoặc miền khác. Checkpoint demo riêng đạt Accuracy 75,38% và Macro-F1 0,6869. Confusion matrix tiếp theo thuộc checkpoint này. Các giá trị trong biểu đồ được làm tròn sáu chữ số thập phân; CSV giữ độ chính xác gốc.</a:t>
            </a:r>
          </a:p>
          <a:p xmlns:a="http://schemas.openxmlformats.org/drawingml/2006/main">
            <a:r>
              <a:t/>
            </a:r>
          </a:p>
          <a:p xmlns:a="http://schemas.openxmlformats.org/drawingml/2006/main">
            <a:r>
              <a:t>Nguồn: results/tables/test_summary.csv ; results/metrics/B5-balanced_seed-3407_test.json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Hàng của confusion matrix là nhãn thật, cột là dự đoán. Negative đúng 1.153 trên 1.368; neutral đúng 254 trên 448; positive đúng 213 trên 333. F1 lần lượt là 0,8481, 0,5342 và 0,6783. Khi so mean C0 với B5 qua ba seeds, class weighting giảm F1 negative từ 0,8596 xuống 0,8438, tăng neutral từ 0,4754 lên 0,5410 và positive từ 0,6196 lên 0,6895. Sự đánh đổi theo lớp giúp giải thích tại sao Accuracy ít tăng nhưng Macro-F1 cải thiện. Phân biệt các số của checkpoint demo trên hình với trung bình ba seeds. Các giá trị trong biểu đồ được làm tròn sáu chữ số thập phân; CSV giữ độ chính xác gốc.</a:t>
            </a:r>
          </a:p>
          <a:p xmlns:a="http://schemas.openxmlformats.org/drawingml/2006/main">
            <a:r>
              <a:t/>
            </a:r>
          </a:p>
          <a:p xmlns:a="http://schemas.openxmlformats.org/drawingml/2006/main">
            <a:r>
              <a:t>Nguồn: results/tables/final_per_class.csv ; results/tables/baseline_final_per_class.csv ; results/metrics/B5-balanced_seed-3407_test.json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Tweet 9332 dùng awesome ở đầu, nhưng WTH và sự cố gợi ý mỉa mai. Tweet 1537 khen hãng khác trong khi sentiment gán cho hãng được đề cập là negative; P0 làm mất tên hãng trong mentions. Đây là giả thuyết dựa trên văn bản, chưa có attribution hoặc ablation cleaning để xác định nguyên nhân. Trợ lý đã đọc 85 case raw/clean; nhóm chưa có hai người đánh giá độc lập. Accuracy của nhóm tweet dài cao hơn nhưng Macro-F1 thấp và negative chiếm đa số, nên chưa kết luận tweet dài dễ hơn. Giữ nhãn dataset khi tính metric, kể cả case có nhãn đáng xem lại.</a:t>
            </a:r>
          </a:p>
          <a:p xmlns:a="http://schemas.openxmlformats.org/drawingml/2006/main">
            <a:r>
              <a:t/>
            </a:r>
          </a:p>
          <a:p xmlns:a="http://schemas.openxmlformats.org/drawingml/2006/main">
            <a:r>
              <a:t>Nguồn: results/predictions/assistant_error_review.csv ; results/predictions/manual_error_review.csv ; results/tables/error_slices.csv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sang demo local, nhập câu cảm ơn như ảnh hoặc dùng một testcase đã lưu. Demo tải model và tokenizer đã đóng băng. Ba giá trị hiển thị là output softmax chưa hiệu chỉnh; giá trị 98% không đảm bảo xác suất dự đoán đúng ngoài thực tế là 98%. Có thể thử một case sai để trình bày hạn chế. Nếu runtime chưa sẵn trên máy trình chiếu, dùng ảnh chụp request thật đã kiểm tra này và nói rõ đang trình bày ảnh. Demo chưa được hosting public. Hướng dẫn khởi động có trong README.</a:t>
            </a:r>
          </a:p>
          <a:p xmlns:a="http://schemas.openxmlformats.org/drawingml/2006/main">
            <a:r>
              <a:t/>
            </a:r>
          </a:p>
          <a:p xmlns:a="http://schemas.openxmlformats.org/drawingml/2006/main">
            <a:r>
              <a:t>Nguồn: airline_rnn/demo.py ; results/metrics/demo_verification.json ; results/figures/F23_demo.png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chính gồm quy trình có thể chạy lại và số liệu thực đo. Cần đặt 90% của nguồn LSTM binary và 75% của RNN ba lớp trong các điều kiện đánh giá khác nhau, đồng thời giữ đầy đủ các training seeds. Class weighting cải thiện các lớp ít mẫu trong miền đã khảo sát, với sự đánh đổi ở negative. Bước tiếp theo là nhóm rà 85 case, điền đóng góp thành viên, chạy lại trên môi trường thứ hai và thiết kế holdout mới nếu khảo sát thêm. LSTM, GRU và BERT chỉ thuộc một phần mở rộng riêng nếu được thực hiện. Xin cảm ơn và sẵn sàng trao đổi.</a:t>
            </a:r>
          </a:p>
          <a:p xmlns:a="http://schemas.openxmlformats.org/drawingml/2006/main">
            <a:r>
              <a:t/>
            </a:r>
          </a:p>
          <a:p xmlns:a="http://schemas.openxmlformats.org/drawingml/2006/main">
            <a:r>
              <a:t>Nguồn: reports/final/BaoCao_Airline_RNN.docx ; README.md ; reports/project_status.md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615df25dde4a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30d6656ab041d5" /><Relationship Type="http://schemas.openxmlformats.org/officeDocument/2006/relationships/slideLayout" Target="/ppt/slideLayouts/slideLayout1.xml" Id="Rd9da545c54f74a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da545c54f74a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5d219f727a44fe" /><Relationship Type="http://schemas.openxmlformats.org/officeDocument/2006/relationships/notesSlide" Target="/ppt/notesSlides/notesSlide1.xml" Id="R39e6f7e48ca747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487c156370463e" /><Relationship Type="http://schemas.openxmlformats.org/officeDocument/2006/relationships/notesSlide" Target="/ppt/notesSlides/notesSlide2.xml" Id="Rada3e5399c6a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1f48ed23d04c8b" /><Relationship Type="http://schemas.openxmlformats.org/officeDocument/2006/relationships/chart" Target="/ppt/slides/charts/chart1.xml" Id="R8c87265a4b244a0a" /><Relationship Type="http://schemas.openxmlformats.org/officeDocument/2006/relationships/notesSlide" Target="/ppt/notesSlides/notesSlide3.xml" Id="R45f678cf81ab4d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3de236c992449a" /><Relationship Type="http://schemas.openxmlformats.org/officeDocument/2006/relationships/notesSlide" Target="/ppt/notesSlides/notesSlide4.xml" Id="R82c2bb9fbe344a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f67c106c964362" /><Relationship Type="http://schemas.openxmlformats.org/officeDocument/2006/relationships/notesSlide" Target="/ppt/notesSlides/notesSlide5.xml" Id="R083a5c7f26f847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5cdcaf1b8243f7" /><Relationship Type="http://schemas.openxmlformats.org/officeDocument/2006/relationships/notesSlide" Target="/ppt/notesSlides/notesSlide6.xml" Id="Rb2257cf00e2b4f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589de84d9a41e0" /><Relationship Type="http://schemas.openxmlformats.org/officeDocument/2006/relationships/notesSlide" Target="/ppt/notesSlides/notesSlide7.xml" Id="R898a9ea3407a44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435b3461da4fe9" /><Relationship Type="http://schemas.openxmlformats.org/officeDocument/2006/relationships/notesSlide" Target="/ppt/notesSlides/notesSlide8.xml" Id="Rf49a0208138048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b6a79c93ed4715" /><Relationship Type="http://schemas.openxmlformats.org/officeDocument/2006/relationships/chart" Target="/ppt/slides/charts/chart2.xml" Id="Rcc96c2a6c1524dc0" /><Relationship Type="http://schemas.openxmlformats.org/officeDocument/2006/relationships/notesSlide" Target="/ppt/notesSlides/notesSlide9.xml" Id="Rfc63036f88b143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d547a224244136" /><Relationship Type="http://schemas.openxmlformats.org/officeDocument/2006/relationships/chart" Target="/ppt/slides/charts/chart3.xml" Id="R278098a5106341b8" /><Relationship Type="http://schemas.openxmlformats.org/officeDocument/2006/relationships/notesSlide" Target="/ppt/notesSlides/notesSlide10.xml" Id="Rac8b102432414b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ef536285b44968" /><Relationship Type="http://schemas.openxmlformats.org/officeDocument/2006/relationships/chart" Target="/ppt/slides/charts/chart4.xml" Id="R390bf9732a5f4acc" /><Relationship Type="http://schemas.openxmlformats.org/officeDocument/2006/relationships/notesSlide" Target="/ppt/notesSlides/notesSlide11.xml" Id="Rc487d877bfa747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af15abe26a49ec" /><Relationship Type="http://schemas.openxmlformats.org/officeDocument/2006/relationships/chart" Target="/ppt/slides/charts/chart5.xml" Id="Re49048458a7d47fc" /><Relationship Type="http://schemas.openxmlformats.org/officeDocument/2006/relationships/notesSlide" Target="/ppt/notesSlides/notesSlide12.xml" Id="R3c11b3b1310f41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49476a10e44952" /><Relationship Type="http://schemas.openxmlformats.org/officeDocument/2006/relationships/chart" Target="/ppt/slides/charts/chart6.xml" Id="R3de2175acad64213" /><Relationship Type="http://schemas.openxmlformats.org/officeDocument/2006/relationships/notesSlide" Target="/ppt/notesSlides/notesSlide13.xml" Id="R6507c5f6a59047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8a529e835d4fd8" /><Relationship Type="http://schemas.openxmlformats.org/officeDocument/2006/relationships/notesSlide" Target="/ppt/notesSlides/notesSlide14.xml" Id="R0ef48c919e754d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48e870de294668" /><Relationship Type="http://schemas.openxmlformats.org/officeDocument/2006/relationships/image" Target="/ppt/media/image.png" Id="R855bfb3010714cea" /><Relationship Type="http://schemas.openxmlformats.org/officeDocument/2006/relationships/notesSlide" Target="/ppt/notesSlides/notesSlide15.xml" Id="R4ca6110734674b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f0af161c9948b8" /><Relationship Type="http://schemas.openxmlformats.org/officeDocument/2006/relationships/notesSlide" Target="/ppt/notesSlides/notesSlide16.xml" Id="R97feeb0af82443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Số tweet theo sentiment</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barChart>
        <c:barDir val="col"/>
        <c:grouping val="clustered"/>
        <c:varyColors val="0"/>
        <c:ser>
          <c:idx val="0"/>
          <c:order val="0"/>
          <c:tx>
            <c:v>Tweets</c:v>
          </c:tx>
          <c:spPr>
            <a:solidFill xmlns:a="http://schemas.openxmlformats.org/drawingml/2006/main">
              <a:srgbClr val="28658C"/>
            </a:solidFill>
          </c:spPr>
          <c:cat>
            <c:strRef>
              <c:f>'Chart Data'!$A$2:$A$4</c:f>
              <c:strCache>
                <c:ptCount val="3"/>
                <c:pt idx="0">
                  <c:v>negative</c:v>
                </c:pt>
                <c:pt idx="1">
                  <c:v>neutral</c:v>
                </c:pt>
                <c:pt idx="2">
                  <c:v>positive</c:v>
                </c:pt>
              </c:strCache>
            </c:strRef>
          </c:cat>
          <c:val>
            <c:numRef>
              <c:f>'Chart Data'!$B$2:$B$4</c:f>
              <c:numCache>
                <c:formatCode>#,##0</c:formatCode>
                <c:ptCount val="3"/>
                <c:pt idx="0">
                  <c:v>9178</c:v>
                </c:pt>
                <c:pt idx="1">
                  <c:v>3099</c:v>
                </c:pt>
                <c:pt idx="2">
                  <c:v>2363</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10000"/>
          <c:min val="0"/>
        </c:scaling>
        <c:delete val="0"/>
        <c:axPos val="l"/>
        <c:majorGridlines>
          <c:spPr>
            <a:ln xmlns:a="http://schemas.openxmlformats.org/drawingml/2006/main" w="9525">
              <a:solidFill>
                <a:srgbClr val="E3EA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2000"/>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Mean validation Macro-F1, 3 seeds</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barChart>
        <c:barDir val="col"/>
        <c:grouping val="clustered"/>
        <c:varyColors val="0"/>
        <c:ser>
          <c:idx val="0"/>
          <c:order val="0"/>
          <c:tx>
            <c:v>Macro-F1</c:v>
          </c:tx>
          <c:spPr>
            <a:solidFill xmlns:a="http://schemas.openxmlformats.org/drawingml/2006/main">
              <a:srgbClr val="28658C"/>
            </a:solidFill>
          </c:spPr>
          <c:dPt>
            <c:idx val="5"/>
            <c:invertIfNegative val="0"/>
            <c:spPr>
              <a:solidFill xmlns:a="http://schemas.openxmlformats.org/drawingml/2006/main">
                <a:srgbClr val="2E8C7E"/>
              </a:solidFill>
            </c:spPr>
          </c:dPt>
          <c:cat>
            <c:strRef>
              <c:f>'Chart Data'!$A$2:$A$7</c:f>
              <c:strCache>
                <c:ptCount val="6"/>
                <c:pt idx="0">
                  <c:v>C0</c:v>
                </c:pt>
                <c:pt idx="1">
                  <c:v>B1-20</c:v>
                </c:pt>
                <c:pt idx="2">
                  <c:v>B1-60</c:v>
                </c:pt>
                <c:pt idx="3">
                  <c:v>B3-64</c:v>
                </c:pt>
                <c:pt idx="4">
                  <c:v>B3-128</c:v>
                </c:pt>
                <c:pt idx="5">
                  <c:v>B5-balanced</c:v>
                </c:pt>
              </c:strCache>
            </c:strRef>
          </c:cat>
          <c:val>
            <c:numRef>
              <c:f>'Chart Data'!$B$2:$B$7</c:f>
              <c:numCache>
                <c:formatCode>0.0000</c:formatCode>
                <c:ptCount val="6"/>
                <c:pt idx="0">
                  <c:v>0.662294</c:v>
                </c:pt>
                <c:pt idx="1">
                  <c:v>0.672243</c:v>
                </c:pt>
                <c:pt idx="2">
                  <c:v>0.662294</c:v>
                </c:pt>
                <c:pt idx="3">
                  <c:v>0.662468</c:v>
                </c:pt>
                <c:pt idx="4">
                  <c:v>0.672404</c:v>
                </c:pt>
                <c:pt idx="5">
                  <c:v>0.692637</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E3EAF0"/>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Median training wall time (giây)</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barChart>
        <c:barDir val="col"/>
        <c:grouping val="clustered"/>
        <c:varyColors val="0"/>
        <c:ser>
          <c:idx val="0"/>
          <c:order val="0"/>
          <c:tx>
            <c:v>Seconds</c:v>
          </c:tx>
          <c:spPr>
            <a:solidFill xmlns:a="http://schemas.openxmlformats.org/drawingml/2006/main">
              <a:srgbClr val="B67831"/>
            </a:solidFill>
          </c:spPr>
          <c:cat>
            <c:strRef>
              <c:f>'Chart Data'!$A$2:$A$7</c:f>
              <c:strCache>
                <c:ptCount val="6"/>
                <c:pt idx="0">
                  <c:v>T20</c:v>
                </c:pt>
                <c:pt idx="1">
                  <c:v>T40</c:v>
                </c:pt>
                <c:pt idx="2">
                  <c:v>T60</c:v>
                </c:pt>
                <c:pt idx="3">
                  <c:v>H64</c:v>
                </c:pt>
                <c:pt idx="4">
                  <c:v>H128</c:v>
                </c:pt>
                <c:pt idx="5">
                  <c:v>B5</c:v>
                </c:pt>
              </c:strCache>
            </c:strRef>
          </c:cat>
          <c:val>
            <c:numRef>
              <c:f>'Chart Data'!$B$2:$B$7</c:f>
              <c:numCache>
                <c:formatCode>0.0</c:formatCode>
                <c:ptCount val="6"/>
                <c:pt idx="0">
                  <c:v>39.6106</c:v>
                </c:pt>
                <c:pt idx="1">
                  <c:v>76.4869</c:v>
                </c:pt>
                <c:pt idx="2">
                  <c:v>108.8558</c:v>
                </c:pt>
                <c:pt idx="3">
                  <c:v>30.3249</c:v>
                </c:pt>
                <c:pt idx="4">
                  <c:v>50.4741</c:v>
                </c:pt>
                <c:pt idx="5">
                  <c:v>75.4644</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120"/>
          <c:min val="0"/>
        </c:scaling>
        <c:delete val="0"/>
        <c:axPos val="l"/>
        <c:majorGridlines>
          <c:spPr>
            <a:ln xmlns:a="http://schemas.openxmlformats.org/drawingml/2006/main" w="9525">
              <a:solidFill>
                <a:srgbClr val="E3EA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30"/>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Macro-F1 inference theo epoch</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lineChart>
        <c:grouping val="standard"/>
        <c:varyColors val="0"/>
        <c:ser>
          <c:idx val="0"/>
          <c:order val="0"/>
          <c:tx>
            <c:v>Train-eval</c:v>
          </c:tx>
          <c:spPr>
            <a:ln xmlns:a="http://schemas.openxmlformats.org/drawingml/2006/main" w="28575">
              <a:solidFill>
                <a:srgbClr val="28658C"/>
              </a:solidFill>
            </a:ln>
          </c:spPr>
          <c:marker>
            <c:symbol val="none"/>
          </c:marker>
          <c:cat>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Data'!$B$2:$B$21</c:f>
              <c:numCache>
                <c:formatCode>0.00</c:formatCode>
                <c:ptCount val="20"/>
                <c:pt idx="0">
                  <c:v>0.323516</c:v>
                </c:pt>
                <c:pt idx="1">
                  <c:v>0.427019</c:v>
                </c:pt>
                <c:pt idx="2">
                  <c:v>0.441441</c:v>
                </c:pt>
                <c:pt idx="3">
                  <c:v>0.449747</c:v>
                </c:pt>
                <c:pt idx="4">
                  <c:v>0.557811</c:v>
                </c:pt>
                <c:pt idx="5">
                  <c:v>0.554777</c:v>
                </c:pt>
                <c:pt idx="6">
                  <c:v>0.558152</c:v>
                </c:pt>
                <c:pt idx="7">
                  <c:v>0.691799</c:v>
                </c:pt>
                <c:pt idx="8">
                  <c:v>0.686305</c:v>
                </c:pt>
                <c:pt idx="9">
                  <c:v>0.778794</c:v>
                </c:pt>
                <c:pt idx="10">
                  <c:v>0.774571</c:v>
                </c:pt>
                <c:pt idx="11">
                  <c:v>0.796097</c:v>
                </c:pt>
                <c:pt idx="12">
                  <c:v>0.809069</c:v>
                </c:pt>
                <c:pt idx="13">
                  <c:v>0.807423</c:v>
                </c:pt>
                <c:pt idx="14">
                  <c:v>0.82183</c:v>
                </c:pt>
                <c:pt idx="15">
                  <c:v>0.839343</c:v>
                </c:pt>
                <c:pt idx="16">
                  <c:v>0.83918</c:v>
                </c:pt>
                <c:pt idx="17">
                  <c:v>0.856027</c:v>
                </c:pt>
                <c:pt idx="18">
                  <c:v>0.816636</c:v>
                </c:pt>
                <c:pt idx="19">
                  <c:v>0.852687</c:v>
                </c:pt>
              </c:numCache>
            </c:numRef>
          </c:val>
          <c:smooth val="0"/>
        </c:ser>
        <c:ser>
          <c:idx val="1"/>
          <c:order val="1"/>
          <c:tx>
            <c:v>Validation</c:v>
          </c:tx>
          <c:spPr>
            <a:ln xmlns:a="http://schemas.openxmlformats.org/drawingml/2006/main" w="28575">
              <a:solidFill>
                <a:srgbClr val="2E8C7E"/>
              </a:solidFill>
            </a:ln>
          </c:spPr>
          <c:marker>
            <c:symbol val="none"/>
          </c:marker>
          <c:cat>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Data'!$D$2:$D$21</c:f>
              <c:numCache>
                <c:formatCode>0.00</c:formatCode>
                <c:ptCount val="20"/>
                <c:pt idx="0">
                  <c:v>0.306998</c:v>
                </c:pt>
                <c:pt idx="1">
                  <c:v>0.414776</c:v>
                </c:pt>
                <c:pt idx="2">
                  <c:v>0.411234</c:v>
                </c:pt>
                <c:pt idx="3">
                  <c:v>0.418209</c:v>
                </c:pt>
                <c:pt idx="4">
                  <c:v>0.520455</c:v>
                </c:pt>
                <c:pt idx="5">
                  <c:v>0.508661</c:v>
                </c:pt>
                <c:pt idx="6">
                  <c:v>0.505582</c:v>
                </c:pt>
                <c:pt idx="7">
                  <c:v>0.607403</c:v>
                </c:pt>
                <c:pt idx="8">
                  <c:v>0.598049</c:v>
                </c:pt>
                <c:pt idx="9">
                  <c:v>0.666001</c:v>
                </c:pt>
                <c:pt idx="10">
                  <c:v>0.669224</c:v>
                </c:pt>
                <c:pt idx="11">
                  <c:v>0.680978</c:v>
                </c:pt>
                <c:pt idx="12">
                  <c:v>0.682446</c:v>
                </c:pt>
                <c:pt idx="13">
                  <c:v>0.679183</c:v>
                </c:pt>
                <c:pt idx="14">
                  <c:v>0.675304</c:v>
                </c:pt>
                <c:pt idx="15">
                  <c:v>0.693514</c:v>
                </c:pt>
                <c:pt idx="16">
                  <c:v>0.677308</c:v>
                </c:pt>
                <c:pt idx="17">
                  <c:v>0.691061</c:v>
                </c:pt>
                <c:pt idx="18">
                  <c:v>0.662957</c:v>
                </c:pt>
                <c:pt idx="19">
                  <c:v>0.687666</c:v>
                </c:pt>
              </c:numCache>
            </c:numRef>
          </c:val>
          <c:smooth val="0"/>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3EAF0"/>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Test trên cùng 2.149 tweet, mean 3 seeds</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barChart>
        <c:barDir val="col"/>
        <c:grouping val="clustered"/>
        <c:varyColors val="0"/>
        <c:ser>
          <c:idx val="0"/>
          <c:order val="0"/>
          <c:tx>
            <c:v>Accuracy</c:v>
          </c:tx>
          <c:spPr>
            <a:solidFill xmlns:a="http://schemas.openxmlformats.org/drawingml/2006/main">
              <a:srgbClr val="28658C"/>
            </a:solidFill>
          </c:spPr>
          <c:cat>
            <c:strRef>
              <c:f>'Chart Data'!$A$2:$A$3</c:f>
              <c:strCache>
                <c:ptCount val="2"/>
                <c:pt idx="0">
                  <c:v>C0</c:v>
                </c:pt>
                <c:pt idx="1">
                  <c:v>B5-balanced</c:v>
                </c:pt>
              </c:strCache>
            </c:strRef>
          </c:cat>
          <c:val>
            <c:numRef>
              <c:f>'Chart Data'!$B$2:$B$3</c:f>
              <c:numCache>
                <c:formatCode>0.0000</c:formatCode>
                <c:ptCount val="2"/>
                <c:pt idx="0">
                  <c:v>0.747479</c:v>
                </c:pt>
                <c:pt idx="1">
                  <c:v>0.751823</c:v>
                </c:pt>
              </c:numCache>
            </c:numRef>
          </c:val>
        </c:ser>
        <c:ser>
          <c:idx val="1"/>
          <c:order val="1"/>
          <c:tx>
            <c:v>Macro-F1</c:v>
          </c:tx>
          <c:spPr>
            <a:solidFill xmlns:a="http://schemas.openxmlformats.org/drawingml/2006/main">
              <a:srgbClr val="2E8C7E"/>
            </a:solidFill>
          </c:spPr>
          <c:cat>
            <c:strRef>
              <c:f>'Chart Data'!$C$2:$C$3</c:f>
              <c:strCache>
                <c:ptCount val="2"/>
                <c:pt idx="0">
                  <c:v>C0</c:v>
                </c:pt>
                <c:pt idx="1">
                  <c:v>B5-balanced</c:v>
                </c:pt>
              </c:strCache>
            </c:strRef>
          </c:cat>
          <c:val>
            <c:numRef>
              <c:f>'Chart Data'!$D$2:$D$3</c:f>
              <c:numCache>
                <c:formatCode>0.0000</c:formatCode>
                <c:ptCount val="2"/>
                <c:pt idx="0">
                  <c:v>0.651539</c:v>
                </c:pt>
                <c:pt idx="1">
                  <c:v>0.691425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0.85"/>
          <c:min val="0"/>
        </c:scaling>
        <c:delete val="0"/>
        <c:axPos val="l"/>
        <c:majorGridlines>
          <c:spPr>
            <a:ln xmlns:a="http://schemas.openxmlformats.org/drawingml/2006/main" w="9525">
              <a:solidFill>
                <a:srgbClr val="E3EAF0"/>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6344C"/>
                </a:solidFill>
                <a:latin typeface="Arial"/>
                <a:ea typeface="Arial"/>
                <a:cs typeface="Arial"/>
              </a:rPr>
              <a:t>F1 của checkpoint seed 3407</a:t>
            </a:r>
          </a:p>
        </c:rich>
      </c:tx>
      <c:overlay val="0"/>
      <c:txPr>
        <a:bodyPr xmlns:a="http://schemas.openxmlformats.org/drawingml/2006/main" anchorCtr="1"/>
        <a:lstStyle xmlns:a="http://schemas.openxmlformats.org/drawingml/2006/main"/>
        <a:p xmlns:a="http://schemas.openxmlformats.org/drawingml/2006/main">
          <a:pPr>
            <a:defRPr sz="1650" b="1">
              <a:solidFill>
                <a:srgbClr val="16344C"/>
              </a:solidFill>
              <a:latin typeface="Arial"/>
              <a:ea typeface="Arial"/>
              <a:cs typeface="Arial"/>
            </a:defRPr>
          </a:pPr>
        </a:p>
      </c:txPr>
    </c:title>
    <c:plotArea>
      <c:barChart>
        <c:barDir val="col"/>
        <c:grouping val="clustered"/>
        <c:varyColors val="0"/>
        <c:ser>
          <c:idx val="0"/>
          <c:order val="0"/>
          <c:tx>
            <c:v>F1</c:v>
          </c:tx>
          <c:spPr>
            <a:solidFill xmlns:a="http://schemas.openxmlformats.org/drawingml/2006/main">
              <a:srgbClr val="2E8C7E"/>
            </a:solidFill>
          </c:spPr>
          <c:cat>
            <c:strRef>
              <c:f>'Chart Data'!$A$2:$A$4</c:f>
              <c:strCache>
                <c:ptCount val="3"/>
                <c:pt idx="0">
                  <c:v>negative</c:v>
                </c:pt>
                <c:pt idx="1">
                  <c:v>neutral</c:v>
                </c:pt>
                <c:pt idx="2">
                  <c:v>positive</c:v>
                </c:pt>
              </c:strCache>
            </c:strRef>
          </c:cat>
          <c:val>
            <c:numRef>
              <c:f>'Chart Data'!$B$2:$B$4</c:f>
              <c:numCache>
                <c:formatCode>0.0000</c:formatCode>
                <c:ptCount val="3"/>
                <c:pt idx="0">
                  <c:v>0.848106</c:v>
                </c:pt>
                <c:pt idx="1">
                  <c:v>0.534175</c:v>
                </c:pt>
                <c:pt idx="2">
                  <c:v>0.678344</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6344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CD7"/>
            </a:solidFill>
          </a:ln>
        </c:spPr>
        <c:txPr>
          <a:bodyPr xmlns:a="http://schemas.openxmlformats.org/drawingml/2006/main" anchorCtr="1"/>
          <a:lstStyle xmlns:a="http://schemas.openxmlformats.org/drawingml/2006/main"/>
          <a:p xmlns:a="http://schemas.openxmlformats.org/drawingml/2006/main">
            <a:pPr>
              <a:defRPr sz="1425">
                <a:solidFill>
                  <a:srgbClr val="16344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3EAF0"/>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B7D"/>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44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CA37FC-6E78-4AA3-9077-0B8712585BC8}"/>
              </a:ext>
            </a:extLst>
          </p:cNvPr>
          <p:cNvSpPr>
            <a:spLocks xmlns:a="http://schemas.openxmlformats.org/drawingml/2006/main" noGrp="1"/>
          </p:cNvSpPr>
          <p:nvPr/>
        </p:nvSpPr>
        <p:spPr>
          <a:xfrm xmlns:a="http://schemas.openxmlformats.org/drawingml/2006/main">
            <a:off x="609600" y="323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5D9E7"/>
                </a:solidFill>
                <a:latin typeface="Arial"/>
                <a:ea typeface="Arial"/>
                <a:cs typeface="Arial"/>
              </a:defRPr>
            </a:pPr>
            <a:r>
              <a:rPr sz="1500" b="0">
                <a:solidFill>
                  <a:srgbClr val="C5D9E7"/>
                </a:solidFill>
                <a:latin typeface="Arial"/>
                <a:ea typeface="Arial"/>
                <a:cs typeface="Arial"/>
              </a:rPr>
              <a:t>TRƯỜNG ĐẠI HỌC CÔNG NGHỆ KỸ THUẬT TP. HỒ CHÍ MINH</a:t>
            </a:r>
          </a:p>
        </p:txBody>
      </p:sp>
      <p:sp>
        <p:nvSpPr>
          <p:cNvPr id="2" name="">
            <a:extLst xmlns:a="http://schemas.openxmlformats.org/drawingml/2006/main">
              <a:ext uri="{FF2B5EF4-FFF2-40B4-BE49-F238E27FC236}">
                <a16:creationId xmlns:a16="http://schemas.microsoft.com/office/drawing/2014/main" id="{F93388B6-828B-43E9-90B5-7B1C1F980014}"/>
              </a:ext>
            </a:extLst>
          </p:cNvPr>
          <p:cNvSpPr>
            <a:spLocks xmlns:a="http://schemas.openxmlformats.org/drawingml/2006/main" noGrp="1"/>
          </p:cNvSpPr>
          <p:nvPr/>
        </p:nvSpPr>
        <p:spPr>
          <a:xfrm xmlns:a="http://schemas.openxmlformats.org/drawingml/2006/main">
            <a:off x="609600" y="1352550"/>
            <a:ext cx="10972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Xây dựng mô hình phân tích</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cảm xúc khách hàng trong</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ngành hàng không sử dụng RNN</a:t>
            </a:r>
          </a:p>
        </p:txBody>
      </p:sp>
      <p:sp>
        <p:nvSpPr>
          <p:cNvPr id="3" name="">
            <a:extLst xmlns:a="http://schemas.openxmlformats.org/drawingml/2006/main">
              <a:ext uri="{FF2B5EF4-FFF2-40B4-BE49-F238E27FC236}">
                <a16:creationId xmlns:a16="http://schemas.microsoft.com/office/drawing/2014/main" id="{3D59580D-AFA9-4785-8FAC-29DC82463E18}"/>
              </a:ext>
            </a:extLst>
          </p:cNvPr>
          <p:cNvSpPr>
            <a:spLocks xmlns:a="http://schemas.openxmlformats.org/drawingml/2006/main" noGrp="1"/>
          </p:cNvSpPr>
          <p:nvPr/>
        </p:nvSpPr>
        <p:spPr>
          <a:xfrm xmlns:a="http://schemas.openxmlformats.org/drawingml/2006/main">
            <a:off x="647700" y="40481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C5D9E7"/>
                </a:solidFill>
                <a:latin typeface="Arial"/>
                <a:ea typeface="Arial"/>
                <a:cs typeface="Arial"/>
              </a:defRPr>
            </a:pPr>
            <a:r>
              <a:rPr sz="2400" b="0">
                <a:solidFill>
                  <a:srgbClr val="C5D9E7"/>
                </a:solidFill>
                <a:latin typeface="Arial"/>
                <a:ea typeface="Arial"/>
                <a:cs typeface="Arial"/>
              </a:rPr>
              <a:t>Thực nghiệm ba lớp với quy trình tái lập</a:t>
            </a:r>
          </a:p>
        </p:txBody>
      </p:sp>
      <p:sp>
        <p:nvSpPr>
          <p:cNvPr id="4" name="">
            <a:extLst xmlns:a="http://schemas.openxmlformats.org/drawingml/2006/main">
              <a:ext uri="{FF2B5EF4-FFF2-40B4-BE49-F238E27FC236}">
                <a16:creationId xmlns:a16="http://schemas.microsoft.com/office/drawing/2014/main" id="{635B77B7-FA4A-4923-BE58-6BD0E21ADB50}"/>
              </a:ext>
            </a:extLst>
          </p:cNvPr>
          <p:cNvSpPr>
            <a:spLocks xmlns:a="http://schemas.openxmlformats.org/drawingml/2006/main" noGrp="1"/>
          </p:cNvSpPr>
          <p:nvPr/>
        </p:nvSpPr>
        <p:spPr>
          <a:xfrm xmlns:a="http://schemas.openxmlformats.org/drawingml/2006/main">
            <a:off x="647700" y="4819650"/>
            <a:ext cx="1047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2611307 – Trịnh Nguyễn Anh Hào</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2611308 – Lê Huy Huân</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2611323 – Nguyễn Nam Triều Tiên</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GVHD: PGS. TS. Hoàng Văn Dũng</a:t>
            </a:r>
          </a:p>
        </p:txBody>
      </p:sp>
      <p:sp>
        <p:nvSpPr>
          <p:cNvPr id="5" name="">
            <a:extLst xmlns:a="http://schemas.openxmlformats.org/drawingml/2006/main">
              <a:ext uri="{FF2B5EF4-FFF2-40B4-BE49-F238E27FC236}">
                <a16:creationId xmlns:a16="http://schemas.microsoft.com/office/drawing/2014/main" id="{8C9DF738-B19C-4280-B559-D9165BEB8CFA}"/>
              </a:ext>
            </a:extLst>
          </p:cNvPr>
          <p:cNvSpPr>
            <a:spLocks xmlns:a="http://schemas.openxmlformats.org/drawingml/2006/main" noGrp="1"/>
          </p:cNvSpPr>
          <p:nvPr/>
        </p:nvSpPr>
        <p:spPr>
          <a:xfrm xmlns:a="http://schemas.openxmlformats.org/drawingml/2006/main">
            <a:off x="647700" y="6143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5D9E7"/>
                </a:solidFill>
                <a:latin typeface="Arial"/>
                <a:ea typeface="Arial"/>
                <a:cs typeface="Arial"/>
              </a:defRPr>
            </a:pPr>
            <a:r>
              <a:rPr sz="1500" b="0">
                <a:solidFill>
                  <a:srgbClr val="C5D9E7"/>
                </a:solidFill>
                <a:latin typeface="Arial"/>
                <a:ea typeface="Arial"/>
                <a:cs typeface="Arial"/>
              </a:rPr>
              <a:t>Khoa Công nghệ thông tin   ·   2026</a:t>
            </a:r>
          </a:p>
        </p:txBody>
      </p:sp>
    </p:spTree>
    <p:extLst>
      <p:ext uri="{BB962C8B-B14F-4D97-AF65-F5344CB8AC3E}">
        <p14:creationId xmlns:p14="http://schemas.microsoft.com/office/powerpoint/2010/main" val="829085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FE46D6-1C13-4714-B77B-AEF981718527}"/>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AUDIT NGUỒN</a:t>
            </a:r>
          </a:p>
        </p:txBody>
      </p:sp>
      <p:sp>
        <p:nvSpPr>
          <p:cNvPr id="2" name="">
            <a:extLst xmlns:a="http://schemas.openxmlformats.org/drawingml/2006/main">
              <a:ext uri="{FF2B5EF4-FFF2-40B4-BE49-F238E27FC236}">
                <a16:creationId xmlns:a16="http://schemas.microsoft.com/office/drawing/2014/main" id="{51ED5370-C4B3-4459-850C-10623D62BD72}"/>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Notebook nguồn thực tế dùng LSTM và hai lớp</a:t>
            </a:r>
          </a:p>
        </p:txBody>
      </p:sp>
      <p:sp>
        <p:nvSpPr>
          <p:cNvPr id="3" name="">
            <a:extLst xmlns:a="http://schemas.openxmlformats.org/drawingml/2006/main">
              <a:ext uri="{FF2B5EF4-FFF2-40B4-BE49-F238E27FC236}">
                <a16:creationId xmlns:a16="http://schemas.microsoft.com/office/drawing/2014/main" id="{D72E41EA-2E5F-4F82-87D6-D7BF0E75950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5DFDC9FA-B43B-4C92-A331-1209D081651D}"/>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02</a:t>
            </a:r>
          </a:p>
        </p:txBody>
      </p:sp>
      <p:graphicFrame>
        <p:nvGraphicFramePr>
          <p:cNvPr id="11" name=""/>
          <p:cNvGraphicFramePr/>
          <p:nvPr/>
        </p:nvGraphicFramePr>
        <p:xfrm>
          <a:off xmlns:a="http://schemas.openxmlformats.org/drawingml/2006/main" x="609600" y="1905000"/>
          <a:ext xmlns:a="http://schemas.openxmlformats.org/drawingml/2006/main" cx="10972800" cy="3381375"/>
        </p:xfrm>
        <a:graphic xmlns:a="http://schemas.openxmlformats.org/drawingml/2006/main">
          <a:graphicData uri="http://schemas.openxmlformats.org/drawingml/2006/table">
            <a:tbl>
              <a:tblPr/>
              <a:tblGrid>
                <a:gridCol w="2952750"/>
                <a:gridCol w="3905250"/>
                <a:gridCol w="4114800"/>
              </a:tblGrid>
              <a:tr h="563563">
                <a:tc>
                  <a:txBody>
                    <a:bodyPr/>
                    <a:lstStyle/>
                    <a:p>
                      <a:r>
                        <a:rPr sz="1800" b="1">
                          <a:solidFill>
                            <a:srgbClr val="FFFFFF"/>
                          </a:solidFill>
                          <a:latin typeface="Arial"/>
                          <a:ea typeface="Arial"/>
                          <a:cs typeface="Arial"/>
                        </a:rPr>
                        <a:t>Thành phần</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Notebook Kaggle</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Thực nghiệm chính</a:t>
                      </a:r>
                    </a:p>
                  </a:txBody>
                  <a:tcPr marL="114300" marR="114300" marT="95250" marB="95250" anchor="ctr">
                    <a:solidFill>
                      <a:srgbClr val="16344C"/>
                    </a:solidFill>
                  </a:tcPr>
                </a:tc>
              </a:tr>
              <a:tr h="563563">
                <a:tc>
                  <a:txBody>
                    <a:bodyPr/>
                    <a:lstStyle/>
                    <a:p>
                      <a:r>
                        <a:rPr sz="1800" b="0">
                          <a:solidFill>
                            <a:srgbClr val="16344C"/>
                          </a:solidFill>
                          <a:latin typeface="Arial"/>
                          <a:ea typeface="Arial"/>
                          <a:cs typeface="Arial"/>
                        </a:rPr>
                        <a:t>Mạng hồi quy</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LSTM196</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RNN196</a:t>
                      </a:r>
                    </a:p>
                  </a:txBody>
                  <a:tcPr marL="114300" marR="114300" marT="95250" marB="95250" anchor="ctr">
                    <a:solidFill>
                      <a:srgbClr val="EEF3F6"/>
                    </a:solidFill>
                  </a:tcPr>
                </a:tc>
              </a:tr>
              <a:tr h="563563">
                <a:tc>
                  <a:txBody>
                    <a:bodyPr/>
                    <a:lstStyle/>
                    <a:p>
                      <a:r>
                        <a:rPr sz="1800" b="0">
                          <a:solidFill>
                            <a:srgbClr val="16344C"/>
                          </a:solidFill>
                          <a:latin typeface="Arial"/>
                          <a:ea typeface="Arial"/>
                          <a:cs typeface="Arial"/>
                        </a:rPr>
                        <a:t>Nhãn</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negative / positive</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negative / neutral / positive</a:t>
                      </a:r>
                    </a:p>
                  </a:txBody>
                  <a:tcPr marL="114300" marR="114300" marT="95250" marB="95250" anchor="ctr">
                    <a:solidFill>
                      <a:srgbClr val="FFFFFF"/>
                    </a:solidFill>
                  </a:tcPr>
                </a:tc>
              </a:tr>
              <a:tr h="563563">
                <a:tc>
                  <a:txBody>
                    <a:bodyPr/>
                    <a:lstStyle/>
                    <a:p>
                      <a:r>
                        <a:rPr sz="1800" b="0">
                          <a:solidFill>
                            <a:srgbClr val="16344C"/>
                          </a:solidFill>
                          <a:latin typeface="Arial"/>
                          <a:ea typeface="Arial"/>
                          <a:cs typeface="Arial"/>
                        </a:rPr>
                        <a:t>Dataset sau xử lý</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6.541 tweet lọc</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14.353 tweet sạch</a:t>
                      </a:r>
                    </a:p>
                  </a:txBody>
                  <a:tcPr marL="114300" marR="114300" marT="95250" marB="95250" anchor="ctr">
                    <a:solidFill>
                      <a:srgbClr val="EEF3F6"/>
                    </a:solidFill>
                  </a:tcPr>
                </a:tc>
              </a:tr>
              <a:tr h="563563">
                <a:tc>
                  <a:txBody>
                    <a:bodyPr/>
                    <a:lstStyle/>
                    <a:p>
                      <a:r>
                        <a:rPr sz="1800" b="0">
                          <a:solidFill>
                            <a:srgbClr val="16344C"/>
                          </a:solidFill>
                          <a:latin typeface="Arial"/>
                          <a:ea typeface="Arial"/>
                          <a:cs typeface="Arial"/>
                        </a:rPr>
                        <a:t>Fit vocabulary</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Trước split, toàn corpus</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Chỉ train</a:t>
                      </a:r>
                    </a:p>
                  </a:txBody>
                  <a:tcPr marL="114300" marR="114300" marT="95250" marB="95250" anchor="ctr">
                    <a:solidFill>
                      <a:srgbClr val="FFFFFF"/>
                    </a:solidFill>
                  </a:tcPr>
                </a:tc>
              </a:tr>
              <a:tr h="563563">
                <a:tc>
                  <a:txBody>
                    <a:bodyPr/>
                    <a:lstStyle/>
                    <a:p>
                      <a:r>
                        <a:rPr sz="1800" b="0">
                          <a:solidFill>
                            <a:srgbClr val="16344C"/>
                          </a:solidFill>
                          <a:latin typeface="Arial"/>
                          <a:ea typeface="Arial"/>
                          <a:cs typeface="Arial"/>
                        </a:rPr>
                        <a:t>Chọn model</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Epoch cuối</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Validation Macro-F1</a:t>
                      </a:r>
                    </a:p>
                  </a:txBody>
                  <a:tcPr marL="114300" marR="114300" marT="95250" marB="95250" anchor="ctr">
                    <a:solidFill>
                      <a:srgbClr val="EEF3F6"/>
                    </a:solidFill>
                  </a:tcPr>
                </a:tc>
              </a:tr>
            </a:tbl>
          </a:graphicData>
        </a:graphic>
      </p:graphicFrame>
      <p:sp>
        <p:nvSpPr>
          <p:cNvPr id="6" name="">
            <a:extLst xmlns:a="http://schemas.openxmlformats.org/drawingml/2006/main">
              <a:ext uri="{FF2B5EF4-FFF2-40B4-BE49-F238E27FC236}">
                <a16:creationId xmlns:a16="http://schemas.microsoft.com/office/drawing/2014/main" id="{38D44BD5-97D0-419C-9911-D884D7A50D90}"/>
              </a:ext>
            </a:extLst>
          </p:cNvPr>
          <p:cNvSpPr>
            <a:spLocks xmlns:a="http://schemas.openxmlformats.org/drawingml/2006/main" noGrp="1"/>
          </p:cNvSpPr>
          <p:nvPr/>
        </p:nvSpPr>
        <p:spPr>
          <a:xfrm xmlns:a="http://schemas.openxmlformats.org/drawingml/2006/main">
            <a:off x="609600" y="55911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658C"/>
                </a:solidFill>
                <a:latin typeface="Arial"/>
                <a:ea typeface="Arial"/>
                <a:cs typeface="Arial"/>
              </a:defRPr>
            </a:pPr>
            <a:r>
              <a:rPr sz="2025" b="1">
                <a:solidFill>
                  <a:srgbClr val="28658C"/>
                </a:solidFill>
                <a:latin typeface="Arial"/>
                <a:ea typeface="Arial"/>
                <a:cs typeface="Arial"/>
              </a:rPr>
              <a:t>90,32% là output lịch sử của nguồn. A1 là baseline chuyển thể sang RNN.</a:t>
            </a:r>
          </a:p>
        </p:txBody>
      </p:sp>
    </p:spTree>
    <p:extLst>
      <p:ext uri="{BB962C8B-B14F-4D97-AF65-F5344CB8AC3E}">
        <p14:creationId xmlns:p14="http://schemas.microsoft.com/office/powerpoint/2010/main" val="18449907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FB91F5-B139-4652-9829-074B0841712A}"/>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37B8EF24-222D-402A-815D-CAAF00B29E31}"/>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Negative chiếm 62,69% dữ liệu gốc</a:t>
            </a:r>
          </a:p>
        </p:txBody>
      </p:sp>
      <p:sp>
        <p:nvSpPr>
          <p:cNvPr id="3" name="">
            <a:extLst xmlns:a="http://schemas.openxmlformats.org/drawingml/2006/main">
              <a:ext uri="{FF2B5EF4-FFF2-40B4-BE49-F238E27FC236}">
                <a16:creationId xmlns:a16="http://schemas.microsoft.com/office/drawing/2014/main" id="{475CB8E3-C748-4880-B80E-743FE452B73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CD1BF5AA-E23A-4E28-AAB0-5A2BC2DCB608}"/>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03</a:t>
            </a:r>
          </a:p>
        </p:txBody>
      </p:sp>
      <p:graphicFrame>
        <p:nvGraphicFramePr>
          <p:cNvPr id="12" name="Chart"/>
          <p:cNvGraphicFramePr/>
          <p:nvPr/>
        </p:nvGraphicFramePr>
        <p:xfrm>
          <a:off xmlns:a="http://schemas.openxmlformats.org/drawingml/2006/main" x="609600" y="1857375"/>
          <a:ext xmlns:a="http://schemas.openxmlformats.org/drawingml/2006/main" cx="7429500" cy="4048125"/>
        </p:xfrm>
        <a:graphic xmlns:a="http://schemas.openxmlformats.org/drawingml/2006/main">
          <a:graphicData uri="http://schemas.openxmlformats.org/drawingml/2006/chart">
            <c:chart xmlns:r="http://schemas.openxmlformats.org/officeDocument/2006/relationships" xmlns:c="http://schemas.openxmlformats.org/drawingml/2006/chart" r:id="R8c87265a4b244a0a"/>
          </a:graphicData>
        </a:graphic>
      </p:graphicFrame>
      <p:sp>
        <p:nvSpPr>
          <p:cNvPr id="6" name="">
            <a:extLst xmlns:a="http://schemas.openxmlformats.org/drawingml/2006/main">
              <a:ext uri="{FF2B5EF4-FFF2-40B4-BE49-F238E27FC236}">
                <a16:creationId xmlns:a16="http://schemas.microsoft.com/office/drawing/2014/main" id="{95F0680E-6CA2-412F-A2BC-CB737F0D7830}"/>
              </a:ext>
            </a:extLst>
          </p:cNvPr>
          <p:cNvSpPr>
            <a:spLocks xmlns:a="http://schemas.openxmlformats.org/drawingml/2006/main" noGrp="1"/>
          </p:cNvSpPr>
          <p:nvPr/>
        </p:nvSpPr>
        <p:spPr>
          <a:xfrm xmlns:a="http://schemas.openxmlformats.org/drawingml/2006/main">
            <a:off x="8382000" y="217170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44C"/>
                </a:solidFill>
                <a:latin typeface="Arial"/>
                <a:ea typeface="Arial"/>
                <a:cs typeface="Arial"/>
              </a:defRPr>
            </a:pPr>
            <a:r>
              <a:rPr sz="2700" b="1">
                <a:solidFill>
                  <a:srgbClr val="16344C"/>
                </a:solidFill>
                <a:latin typeface="Arial"/>
                <a:ea typeface="Arial"/>
                <a:cs typeface="Arial"/>
              </a:rPr>
              <a:t>14.640 tweet</a:t>
            </a:r>
          </a:p>
          <a:p xmlns:a="http://schemas.openxmlformats.org/drawingml/2006/main">
            <a:pPr>
              <a:defRPr sz="2700" b="1">
                <a:solidFill>
                  <a:srgbClr val="16344C"/>
                </a:solidFill>
                <a:latin typeface="Arial"/>
                <a:ea typeface="Arial"/>
                <a:cs typeface="Arial"/>
              </a:defRPr>
            </a:pPr>
            <a:r>
              <a:rPr sz="2700" b="1">
                <a:solidFill>
                  <a:srgbClr val="16344C"/>
                </a:solidFill>
                <a:latin typeface="Arial"/>
                <a:ea typeface="Arial"/>
                <a:cs typeface="Arial"/>
              </a:rPr>
              <a:t>15 cột dữ liệu</a:t>
            </a:r>
          </a:p>
        </p:txBody>
      </p:sp>
      <p:sp>
        <p:nvSpPr>
          <p:cNvPr id="7" name="">
            <a:extLst xmlns:a="http://schemas.openxmlformats.org/drawingml/2006/main">
              <a:ext uri="{FF2B5EF4-FFF2-40B4-BE49-F238E27FC236}">
                <a16:creationId xmlns:a16="http://schemas.microsoft.com/office/drawing/2014/main" id="{576ED871-577B-40C9-BC64-85AD33A007BE}"/>
              </a:ext>
            </a:extLst>
          </p:cNvPr>
          <p:cNvSpPr>
            <a:spLocks xmlns:a="http://schemas.openxmlformats.org/drawingml/2006/main" noGrp="1"/>
          </p:cNvSpPr>
          <p:nvPr/>
        </p:nvSpPr>
        <p:spPr>
          <a:xfrm xmlns:a="http://schemas.openxmlformats.org/drawingml/2006/main">
            <a:off x="8382000" y="3429000"/>
            <a:ext cx="31908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Input: text</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Output: 3 sentiments</a:t>
            </a:r>
          </a:p>
          <a:p xmlns:a="http://schemas.openxmlformats.org/drawingml/2006/main">
            <a:r>
              <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Airline dùng cho EDA</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Tweet ID dùng để nhóm trùng</a:t>
            </a:r>
          </a:p>
        </p:txBody>
      </p:sp>
    </p:spTree>
    <p:extLst>
      <p:ext uri="{BB962C8B-B14F-4D97-AF65-F5344CB8AC3E}">
        <p14:creationId xmlns:p14="http://schemas.microsoft.com/office/powerpoint/2010/main" val="21387395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04D816-2AE3-4B5E-A325-FA2B0D27CE29}"/>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PROTOCOL</a:t>
            </a:r>
          </a:p>
        </p:txBody>
      </p:sp>
      <p:sp>
        <p:nvSpPr>
          <p:cNvPr id="2" name="">
            <a:extLst xmlns:a="http://schemas.openxmlformats.org/drawingml/2006/main">
              <a:ext uri="{FF2B5EF4-FFF2-40B4-BE49-F238E27FC236}">
                <a16:creationId xmlns:a16="http://schemas.microsoft.com/office/drawing/2014/main" id="{5269F83E-26E8-4BBC-9336-4E6911E19BAA}"/>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Nhóm dữ liệu trùng đi trọn vào một split</a:t>
            </a:r>
          </a:p>
        </p:txBody>
      </p:sp>
      <p:sp>
        <p:nvSpPr>
          <p:cNvPr id="3" name="">
            <a:extLst xmlns:a="http://schemas.openxmlformats.org/drawingml/2006/main">
              <a:ext uri="{FF2B5EF4-FFF2-40B4-BE49-F238E27FC236}">
                <a16:creationId xmlns:a16="http://schemas.microsoft.com/office/drawing/2014/main" id="{E368194A-3C7F-4099-A5EE-E142973B36E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B61E1B1D-0EC6-4383-9B54-93FDCE8147C9}"/>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04</a:t>
            </a:r>
          </a:p>
        </p:txBody>
      </p:sp>
      <p:graphicFrame>
        <p:nvGraphicFramePr>
          <p:cNvPr id="12" name=""/>
          <p:cNvGraphicFramePr/>
          <p:nvPr/>
        </p:nvGraphicFramePr>
        <p:xfrm>
          <a:off xmlns:a="http://schemas.openxmlformats.org/drawingml/2006/main" x="609600" y="1857375"/>
          <a:ext xmlns:a="http://schemas.openxmlformats.org/drawingml/2006/main" cx="10972800" cy="2571750"/>
        </p:xfrm>
        <a:graphic xmlns:a="http://schemas.openxmlformats.org/drawingml/2006/main">
          <a:graphicData uri="http://schemas.openxmlformats.org/drawingml/2006/table">
            <a:tbl>
              <a:tblPr/>
              <a:tblGrid>
                <a:gridCol w="2857500"/>
                <a:gridCol w="2000250"/>
                <a:gridCol w="2000250"/>
                <a:gridCol w="2000250"/>
                <a:gridCol w="2114550"/>
              </a:tblGrid>
              <a:tr h="642938">
                <a:tc>
                  <a:txBody>
                    <a:bodyPr/>
                    <a:lstStyle/>
                    <a:p>
                      <a:r>
                        <a:rPr sz="1875" b="1">
                          <a:solidFill>
                            <a:srgbClr val="FFFFFF"/>
                          </a:solidFill>
                          <a:latin typeface="Arial"/>
                          <a:ea typeface="Arial"/>
                          <a:cs typeface="Arial"/>
                        </a:rPr>
                        <a:t>Split</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Negative</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Neutral</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Positive</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Tổng</a:t>
                      </a:r>
                    </a:p>
                  </a:txBody>
                  <a:tcPr marL="114300" marR="114300" marT="95250" marB="95250" anchor="ctr">
                    <a:solidFill>
                      <a:srgbClr val="16344C"/>
                    </a:solidFill>
                  </a:tcPr>
                </a:tc>
              </a:tr>
              <a:tr h="642938">
                <a:tc>
                  <a:txBody>
                    <a:bodyPr/>
                    <a:lstStyle/>
                    <a:p>
                      <a:r>
                        <a:rPr sz="1875" b="0">
                          <a:solidFill>
                            <a:srgbClr val="16344C"/>
                          </a:solidFill>
                          <a:latin typeface="Arial"/>
                          <a:ea typeface="Arial"/>
                          <a:cs typeface="Arial"/>
                        </a:rPr>
                        <a:t>Train</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6.404</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2.095</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1.544</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10.043</a:t>
                      </a:r>
                    </a:p>
                  </a:txBody>
                  <a:tcPr marL="114300" marR="114300" marT="95250" marB="95250" anchor="ctr">
                    <a:solidFill>
                      <a:srgbClr val="EEF3F6"/>
                    </a:solidFill>
                  </a:tcPr>
                </a:tc>
              </a:tr>
              <a:tr h="642938">
                <a:tc>
                  <a:txBody>
                    <a:bodyPr/>
                    <a:lstStyle/>
                    <a:p>
                      <a:r>
                        <a:rPr sz="1875" b="0">
                          <a:solidFill>
                            <a:srgbClr val="16344C"/>
                          </a:solidFill>
                          <a:latin typeface="Arial"/>
                          <a:ea typeface="Arial"/>
                          <a:cs typeface="Arial"/>
                        </a:rPr>
                        <a:t>Validation</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1.368</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458</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335</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2.161</a:t>
                      </a:r>
                    </a:p>
                  </a:txBody>
                  <a:tcPr marL="114300" marR="114300" marT="95250" marB="95250" anchor="ctr">
                    <a:solidFill>
                      <a:srgbClr val="FFFFFF"/>
                    </a:solidFill>
                  </a:tcPr>
                </a:tc>
              </a:tr>
              <a:tr h="642938">
                <a:tc>
                  <a:txBody>
                    <a:bodyPr/>
                    <a:lstStyle/>
                    <a:p>
                      <a:r>
                        <a:rPr sz="1875" b="0">
                          <a:solidFill>
                            <a:srgbClr val="16344C"/>
                          </a:solidFill>
                          <a:latin typeface="Arial"/>
                          <a:ea typeface="Arial"/>
                          <a:cs typeface="Arial"/>
                        </a:rPr>
                        <a:t>Test</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1.368</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448</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333</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2.149</a:t>
                      </a:r>
                    </a:p>
                  </a:txBody>
                  <a:tcPr marL="114300" marR="114300" marT="95250" marB="95250" anchor="ctr">
                    <a:solidFill>
                      <a:srgbClr val="EEF3F6"/>
                    </a:solidFill>
                  </a:tcPr>
                </a:tc>
              </a:tr>
            </a:tbl>
          </a:graphicData>
        </a:graphic>
      </p:graphicFrame>
      <p:sp>
        <p:nvSpPr>
          <p:cNvPr id="6" name="">
            <a:extLst xmlns:a="http://schemas.openxmlformats.org/drawingml/2006/main">
              <a:ext uri="{FF2B5EF4-FFF2-40B4-BE49-F238E27FC236}">
                <a16:creationId xmlns:a16="http://schemas.microsoft.com/office/drawing/2014/main" id="{C7F778F8-DFAF-417A-8255-E8EE4037EE7B}"/>
              </a:ext>
            </a:extLst>
          </p:cNvPr>
          <p:cNvSpPr>
            <a:spLocks xmlns:a="http://schemas.openxmlformats.org/drawingml/2006/main" noGrp="1"/>
          </p:cNvSpPr>
          <p:nvPr/>
        </p:nvSpPr>
        <p:spPr>
          <a:xfrm xmlns:a="http://schemas.openxmlformats.org/drawingml/2006/main">
            <a:off x="609600" y="4657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658C"/>
                </a:solidFill>
                <a:latin typeface="Arial"/>
                <a:ea typeface="Arial"/>
                <a:cs typeface="Arial"/>
              </a:defRPr>
            </a:pPr>
            <a:r>
              <a:rPr sz="2100" b="1">
                <a:solidFill>
                  <a:srgbClr val="28658C"/>
                </a:solidFill>
                <a:latin typeface="Arial"/>
                <a:ea typeface="Arial"/>
                <a:cs typeface="Arial"/>
              </a:rPr>
              <a:t>36 bản sao loại bỏ, 251 dòng xung đột nhãn cách ly</a:t>
            </a:r>
          </a:p>
        </p:txBody>
      </p:sp>
      <p:sp>
        <p:nvSpPr>
          <p:cNvPr id="7" name="">
            <a:extLst xmlns:a="http://schemas.openxmlformats.org/drawingml/2006/main">
              <a:ext uri="{FF2B5EF4-FFF2-40B4-BE49-F238E27FC236}">
                <a16:creationId xmlns:a16="http://schemas.microsoft.com/office/drawing/2014/main" id="{3A0904FF-2EE6-4F02-82FC-EBF9CF936E25}"/>
              </a:ext>
            </a:extLst>
          </p:cNvPr>
          <p:cNvSpPr>
            <a:spLocks xmlns:a="http://schemas.openxmlformats.org/drawingml/2006/main" noGrp="1"/>
          </p:cNvSpPr>
          <p:nvPr/>
        </p:nvSpPr>
        <p:spPr>
          <a:xfrm xmlns:a="http://schemas.openxmlformats.org/drawingml/2006/main">
            <a:off x="609600" y="5172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Split seed 42, tỷ lệ gần 70 / 15 / 15</a:t>
            </a:r>
          </a:p>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Vocabulary học trên train, chọn cấu hình trên validation</a:t>
            </a:r>
          </a:p>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Test mở sau khi đóng băng lựa chọn mô hình</a:t>
            </a:r>
          </a:p>
        </p:txBody>
      </p:sp>
    </p:spTree>
    <p:extLst>
      <p:ext uri="{BB962C8B-B14F-4D97-AF65-F5344CB8AC3E}">
        <p14:creationId xmlns:p14="http://schemas.microsoft.com/office/powerpoint/2010/main" val="530550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A1914C-E888-428E-9F2A-7D3B0880FDA5}"/>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MÔ HÌNH</a:t>
            </a:r>
          </a:p>
        </p:txBody>
      </p:sp>
      <p:sp>
        <p:nvSpPr>
          <p:cNvPr id="2" name="">
            <a:extLst xmlns:a="http://schemas.openxmlformats.org/drawingml/2006/main">
              <a:ext uri="{FF2B5EF4-FFF2-40B4-BE49-F238E27FC236}">
                <a16:creationId xmlns:a16="http://schemas.microsoft.com/office/drawing/2014/main" id="{CEC80B42-51A5-4DB9-A5E2-D1D3214491DC}"/>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RNN cập nhật trạng thái theo thứ tự token</a:t>
            </a:r>
          </a:p>
        </p:txBody>
      </p:sp>
      <p:sp>
        <p:nvSpPr>
          <p:cNvPr id="3" name="">
            <a:extLst xmlns:a="http://schemas.openxmlformats.org/drawingml/2006/main">
              <a:ext uri="{FF2B5EF4-FFF2-40B4-BE49-F238E27FC236}">
                <a16:creationId xmlns:a16="http://schemas.microsoft.com/office/drawing/2014/main" id="{EFDD0422-3A75-4B2D-AD62-6648E0B91CE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76B55821-F666-4608-A866-E72B106F8CAA}"/>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2212CED-5CA2-4BEF-BAD1-841BDEF148DC}"/>
              </a:ext>
            </a:extLst>
          </p:cNvPr>
          <p:cNvSpPr>
            <a:spLocks xmlns:a="http://schemas.openxmlformats.org/drawingml/2006/main" noGrp="1"/>
          </p:cNvSpPr>
          <p:nvPr/>
        </p:nvSpPr>
        <p:spPr>
          <a:xfrm xmlns:a="http://schemas.openxmlformats.org/drawingml/2006/main">
            <a:off x="60960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6" name="">
            <a:extLst xmlns:a="http://schemas.openxmlformats.org/drawingml/2006/main">
              <a:ext uri="{FF2B5EF4-FFF2-40B4-BE49-F238E27FC236}">
                <a16:creationId xmlns:a16="http://schemas.microsoft.com/office/drawing/2014/main" id="{047B032D-42B6-434C-810F-821373FD4B9E}"/>
              </a:ext>
            </a:extLst>
          </p:cNvPr>
          <p:cNvSpPr>
            <a:spLocks xmlns:a="http://schemas.openxmlformats.org/drawingml/2006/main" noGrp="1"/>
          </p:cNvSpPr>
          <p:nvPr/>
        </p:nvSpPr>
        <p:spPr>
          <a:xfrm xmlns:a="http://schemas.openxmlformats.org/drawingml/2006/main">
            <a:off x="69532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Embedding</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4.000 × 128</a:t>
            </a:r>
          </a:p>
        </p:txBody>
      </p:sp>
      <p:sp>
        <p:nvSpPr>
          <p:cNvPr id="7" name="">
            <a:extLst xmlns:a="http://schemas.openxmlformats.org/drawingml/2006/main">
              <a:ext uri="{FF2B5EF4-FFF2-40B4-BE49-F238E27FC236}">
                <a16:creationId xmlns:a16="http://schemas.microsoft.com/office/drawing/2014/main" id="{150137FE-4D33-46CF-BC2F-014FB0E73260}"/>
              </a:ext>
            </a:extLst>
          </p:cNvPr>
          <p:cNvSpPr>
            <a:spLocks xmlns:a="http://schemas.openxmlformats.org/drawingml/2006/main" noGrp="1"/>
          </p:cNvSpPr>
          <p:nvPr/>
        </p:nvSpPr>
        <p:spPr>
          <a:xfrm xmlns:a="http://schemas.openxmlformats.org/drawingml/2006/main">
            <a:off x="206692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A5BB2C9-A704-41DB-AC08-0E86D08D1BD6}"/>
              </a:ext>
            </a:extLst>
          </p:cNvPr>
          <p:cNvSpPr>
            <a:spLocks xmlns:a="http://schemas.openxmlformats.org/drawingml/2006/main" noGrp="1"/>
          </p:cNvSpPr>
          <p:nvPr/>
        </p:nvSpPr>
        <p:spPr>
          <a:xfrm xmlns:a="http://schemas.openxmlformats.org/drawingml/2006/main">
            <a:off x="219075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9" name="">
            <a:extLst xmlns:a="http://schemas.openxmlformats.org/drawingml/2006/main">
              <a:ext uri="{FF2B5EF4-FFF2-40B4-BE49-F238E27FC236}">
                <a16:creationId xmlns:a16="http://schemas.microsoft.com/office/drawing/2014/main" id="{51B1D1E2-B0AF-4C86-8AC2-674E1AD8D69B}"/>
              </a:ext>
            </a:extLst>
          </p:cNvPr>
          <p:cNvSpPr>
            <a:spLocks xmlns:a="http://schemas.openxmlformats.org/drawingml/2006/main" noGrp="1"/>
          </p:cNvSpPr>
          <p:nvPr/>
        </p:nvSpPr>
        <p:spPr>
          <a:xfrm xmlns:a="http://schemas.openxmlformats.org/drawingml/2006/main">
            <a:off x="227647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Spatial</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Dropout 0,5</a:t>
            </a:r>
          </a:p>
        </p:txBody>
      </p:sp>
      <p:sp>
        <p:nvSpPr>
          <p:cNvPr id="10" name="">
            <a:extLst xmlns:a="http://schemas.openxmlformats.org/drawingml/2006/main">
              <a:ext uri="{FF2B5EF4-FFF2-40B4-BE49-F238E27FC236}">
                <a16:creationId xmlns:a16="http://schemas.microsoft.com/office/drawing/2014/main" id="{3EC2A6BD-C6D2-4426-AD71-EBC575D51731}"/>
              </a:ext>
            </a:extLst>
          </p:cNvPr>
          <p:cNvSpPr>
            <a:spLocks xmlns:a="http://schemas.openxmlformats.org/drawingml/2006/main" noGrp="1"/>
          </p:cNvSpPr>
          <p:nvPr/>
        </p:nvSpPr>
        <p:spPr>
          <a:xfrm xmlns:a="http://schemas.openxmlformats.org/drawingml/2006/main">
            <a:off x="364807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84A58112-8A4C-4C1D-92FC-AB08F9BA2D9A}"/>
              </a:ext>
            </a:extLst>
          </p:cNvPr>
          <p:cNvSpPr>
            <a:spLocks xmlns:a="http://schemas.openxmlformats.org/drawingml/2006/main" noGrp="1"/>
          </p:cNvSpPr>
          <p:nvPr/>
        </p:nvSpPr>
        <p:spPr>
          <a:xfrm xmlns:a="http://schemas.openxmlformats.org/drawingml/2006/main">
            <a:off x="3771900" y="2076450"/>
            <a:ext cx="1447800" cy="1323975"/>
          </a:xfrm>
          <a:prstGeom xmlns:a="http://schemas.openxmlformats.org/drawingml/2006/main" prst="rect">
            <a:avLst/>
          </a:prstGeom>
          <a:solidFill xmlns:a="http://schemas.openxmlformats.org/drawingml/2006/main">
            <a:srgbClr val="28658C"/>
          </a:solidFill>
          <a:ln xmlns:a="http://schemas.openxmlformats.org/drawingml/2006/main" w="9525">
            <a:solidFill>
              <a:srgbClr val="A3B7C9"/>
            </a:solidFill>
          </a:ln>
        </p:spPr>
      </p:sp>
      <p:sp>
        <p:nvSpPr>
          <p:cNvPr id="12" name="">
            <a:extLst xmlns:a="http://schemas.openxmlformats.org/drawingml/2006/main">
              <a:ext uri="{FF2B5EF4-FFF2-40B4-BE49-F238E27FC236}">
                <a16:creationId xmlns:a16="http://schemas.microsoft.com/office/drawing/2014/main" id="{F4AFDBBF-447F-4B61-BC14-BD586A23958A}"/>
              </a:ext>
            </a:extLst>
          </p:cNvPr>
          <p:cNvSpPr>
            <a:spLocks xmlns:a="http://schemas.openxmlformats.org/drawingml/2006/main" noGrp="1"/>
          </p:cNvSpPr>
          <p:nvPr/>
        </p:nvSpPr>
        <p:spPr>
          <a:xfrm xmlns:a="http://schemas.openxmlformats.org/drawingml/2006/main">
            <a:off x="385762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RNN</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196 / tanh</a:t>
            </a:r>
          </a:p>
        </p:txBody>
      </p:sp>
      <p:sp>
        <p:nvSpPr>
          <p:cNvPr id="13" name="">
            <a:extLst xmlns:a="http://schemas.openxmlformats.org/drawingml/2006/main">
              <a:ext uri="{FF2B5EF4-FFF2-40B4-BE49-F238E27FC236}">
                <a16:creationId xmlns:a16="http://schemas.microsoft.com/office/drawing/2014/main" id="{4457BE2B-DB57-4F7F-A18A-69DBFCC4A6C2}"/>
              </a:ext>
            </a:extLst>
          </p:cNvPr>
          <p:cNvSpPr>
            <a:spLocks xmlns:a="http://schemas.openxmlformats.org/drawingml/2006/main" noGrp="1"/>
          </p:cNvSpPr>
          <p:nvPr/>
        </p:nvSpPr>
        <p:spPr>
          <a:xfrm xmlns:a="http://schemas.openxmlformats.org/drawingml/2006/main">
            <a:off x="522922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4E94482D-3A9C-4143-AAF9-6C874B1A5811}"/>
              </a:ext>
            </a:extLst>
          </p:cNvPr>
          <p:cNvSpPr>
            <a:spLocks xmlns:a="http://schemas.openxmlformats.org/drawingml/2006/main" noGrp="1"/>
          </p:cNvSpPr>
          <p:nvPr/>
        </p:nvSpPr>
        <p:spPr>
          <a:xfrm xmlns:a="http://schemas.openxmlformats.org/drawingml/2006/main">
            <a:off x="535305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15" name="">
            <a:extLst xmlns:a="http://schemas.openxmlformats.org/drawingml/2006/main">
              <a:ext uri="{FF2B5EF4-FFF2-40B4-BE49-F238E27FC236}">
                <a16:creationId xmlns:a16="http://schemas.microsoft.com/office/drawing/2014/main" id="{CEB0F70B-93AD-4460-8AE2-5A8F386EB0EE}"/>
              </a:ext>
            </a:extLst>
          </p:cNvPr>
          <p:cNvSpPr>
            <a:spLocks xmlns:a="http://schemas.openxmlformats.org/drawingml/2006/main" noGrp="1"/>
          </p:cNvSpPr>
          <p:nvPr/>
        </p:nvSpPr>
        <p:spPr>
          <a:xfrm xmlns:a="http://schemas.openxmlformats.org/drawingml/2006/main">
            <a:off x="543877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Dropout</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B0564E8-AAB8-447A-B8CD-3650918C0D12}"/>
              </a:ext>
            </a:extLst>
          </p:cNvPr>
          <p:cNvSpPr>
            <a:spLocks xmlns:a="http://schemas.openxmlformats.org/drawingml/2006/main" noGrp="1"/>
          </p:cNvSpPr>
          <p:nvPr/>
        </p:nvSpPr>
        <p:spPr>
          <a:xfrm xmlns:a="http://schemas.openxmlformats.org/drawingml/2006/main">
            <a:off x="681037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3BD5B8F-B637-4EB7-BDC6-8AF54CEC9FB5}"/>
              </a:ext>
            </a:extLst>
          </p:cNvPr>
          <p:cNvSpPr>
            <a:spLocks xmlns:a="http://schemas.openxmlformats.org/drawingml/2006/main" noGrp="1"/>
          </p:cNvSpPr>
          <p:nvPr/>
        </p:nvSpPr>
        <p:spPr>
          <a:xfrm xmlns:a="http://schemas.openxmlformats.org/drawingml/2006/main">
            <a:off x="693420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18" name="">
            <a:extLst xmlns:a="http://schemas.openxmlformats.org/drawingml/2006/main">
              <a:ext uri="{FF2B5EF4-FFF2-40B4-BE49-F238E27FC236}">
                <a16:creationId xmlns:a16="http://schemas.microsoft.com/office/drawing/2014/main" id="{795CFED5-15C5-482A-AF26-C4D59783956B}"/>
              </a:ext>
            </a:extLst>
          </p:cNvPr>
          <p:cNvSpPr>
            <a:spLocks xmlns:a="http://schemas.openxmlformats.org/drawingml/2006/main" noGrp="1"/>
          </p:cNvSpPr>
          <p:nvPr/>
        </p:nvSpPr>
        <p:spPr>
          <a:xfrm xmlns:a="http://schemas.openxmlformats.org/drawingml/2006/main">
            <a:off x="701992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Dense 100</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ReLU</a:t>
            </a:r>
          </a:p>
        </p:txBody>
      </p:sp>
      <p:sp>
        <p:nvSpPr>
          <p:cNvPr id="19" name="">
            <a:extLst xmlns:a="http://schemas.openxmlformats.org/drawingml/2006/main">
              <a:ext uri="{FF2B5EF4-FFF2-40B4-BE49-F238E27FC236}">
                <a16:creationId xmlns:a16="http://schemas.microsoft.com/office/drawing/2014/main" id="{F94E772C-F44A-4705-B851-10F329DDBD29}"/>
              </a:ext>
            </a:extLst>
          </p:cNvPr>
          <p:cNvSpPr>
            <a:spLocks xmlns:a="http://schemas.openxmlformats.org/drawingml/2006/main" noGrp="1"/>
          </p:cNvSpPr>
          <p:nvPr/>
        </p:nvSpPr>
        <p:spPr>
          <a:xfrm xmlns:a="http://schemas.openxmlformats.org/drawingml/2006/main">
            <a:off x="839152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11555C61-8C80-4ECF-9EE7-0EBE9D800430}"/>
              </a:ext>
            </a:extLst>
          </p:cNvPr>
          <p:cNvSpPr>
            <a:spLocks xmlns:a="http://schemas.openxmlformats.org/drawingml/2006/main" noGrp="1"/>
          </p:cNvSpPr>
          <p:nvPr/>
        </p:nvSpPr>
        <p:spPr>
          <a:xfrm xmlns:a="http://schemas.openxmlformats.org/drawingml/2006/main">
            <a:off x="851535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21" name="">
            <a:extLst xmlns:a="http://schemas.openxmlformats.org/drawingml/2006/main">
              <a:ext uri="{FF2B5EF4-FFF2-40B4-BE49-F238E27FC236}">
                <a16:creationId xmlns:a16="http://schemas.microsoft.com/office/drawing/2014/main" id="{F6195CF5-A3D7-4F57-80A1-51DC3DD5F71A}"/>
              </a:ext>
            </a:extLst>
          </p:cNvPr>
          <p:cNvSpPr>
            <a:spLocks xmlns:a="http://schemas.openxmlformats.org/drawingml/2006/main" noGrp="1"/>
          </p:cNvSpPr>
          <p:nvPr/>
        </p:nvSpPr>
        <p:spPr>
          <a:xfrm xmlns:a="http://schemas.openxmlformats.org/drawingml/2006/main">
            <a:off x="860107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Dropout</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9732CE6E-55C6-4D6F-86C4-FA396131BE76}"/>
              </a:ext>
            </a:extLst>
          </p:cNvPr>
          <p:cNvSpPr>
            <a:spLocks xmlns:a="http://schemas.openxmlformats.org/drawingml/2006/main" noGrp="1"/>
          </p:cNvSpPr>
          <p:nvPr/>
        </p:nvSpPr>
        <p:spPr>
          <a:xfrm xmlns:a="http://schemas.openxmlformats.org/drawingml/2006/main">
            <a:off x="9972675" y="2562225"/>
            <a:ext cx="142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D"/>
                </a:solidFill>
                <a:latin typeface="Arial"/>
                <a:ea typeface="Arial"/>
                <a:cs typeface="Arial"/>
              </a:defRPr>
            </a:pPr>
            <a:r>
              <a:rPr sz="1575" b="0">
                <a:solidFill>
                  <a:srgbClr val="526B7D"/>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258BE3E2-137E-4812-BE9A-D756AFB155EA}"/>
              </a:ext>
            </a:extLst>
          </p:cNvPr>
          <p:cNvSpPr>
            <a:spLocks xmlns:a="http://schemas.openxmlformats.org/drawingml/2006/main" noGrp="1"/>
          </p:cNvSpPr>
          <p:nvPr/>
        </p:nvSpPr>
        <p:spPr>
          <a:xfrm xmlns:a="http://schemas.openxmlformats.org/drawingml/2006/main">
            <a:off x="10096500" y="2076450"/>
            <a:ext cx="1447800" cy="1323975"/>
          </a:xfrm>
          <a:prstGeom xmlns:a="http://schemas.openxmlformats.org/drawingml/2006/main" prst="rect">
            <a:avLst/>
          </a:prstGeom>
          <a:solidFill xmlns:a="http://schemas.openxmlformats.org/drawingml/2006/main">
            <a:srgbClr val="EEF3F6"/>
          </a:solidFill>
          <a:ln xmlns:a="http://schemas.openxmlformats.org/drawingml/2006/main" w="9525">
            <a:solidFill>
              <a:srgbClr val="A3B7C9"/>
            </a:solidFill>
          </a:ln>
        </p:spPr>
      </p:sp>
      <p:sp>
        <p:nvSpPr>
          <p:cNvPr id="24" name="">
            <a:extLst xmlns:a="http://schemas.openxmlformats.org/drawingml/2006/main">
              <a:ext uri="{FF2B5EF4-FFF2-40B4-BE49-F238E27FC236}">
                <a16:creationId xmlns:a16="http://schemas.microsoft.com/office/drawing/2014/main" id="{0DB73376-7A97-4D70-8C5F-3E60DA212E0D}"/>
              </a:ext>
            </a:extLst>
          </p:cNvPr>
          <p:cNvSpPr>
            <a:spLocks xmlns:a="http://schemas.openxmlformats.org/drawingml/2006/main" noGrp="1"/>
          </p:cNvSpPr>
          <p:nvPr/>
        </p:nvSpPr>
        <p:spPr>
          <a:xfrm xmlns:a="http://schemas.openxmlformats.org/drawingml/2006/main">
            <a:off x="10182225" y="2400300"/>
            <a:ext cx="128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Dense 3</a:t>
            </a:r>
          </a:p>
          <a:p xmlns:a="http://schemas.openxmlformats.org/drawingml/2006/main">
            <a:pPr>
              <a:defRPr sz="1575" b="1">
                <a:solidFill>
                  <a:srgbClr val="16344C"/>
                </a:solidFill>
                <a:latin typeface="Arial"/>
                <a:ea typeface="Arial"/>
                <a:cs typeface="Arial"/>
              </a:defRPr>
            </a:pPr>
            <a:r>
              <a:rPr sz="1575" b="1">
                <a:solidFill>
                  <a:srgbClr val="16344C"/>
                </a:solidFill>
                <a:latin typeface="Arial"/>
                <a:ea typeface="Arial"/>
                <a:cs typeface="Arial"/>
              </a:rPr>
              <a:t>Softmax</a:t>
            </a:r>
          </a:p>
        </p:txBody>
      </p:sp>
      <p:sp>
        <p:nvSpPr>
          <p:cNvPr id="25" name="">
            <a:extLst xmlns:a="http://schemas.openxmlformats.org/drawingml/2006/main">
              <a:ext uri="{FF2B5EF4-FFF2-40B4-BE49-F238E27FC236}">
                <a16:creationId xmlns:a16="http://schemas.microsoft.com/office/drawing/2014/main" id="{F82273F0-7551-4C0B-AD34-0BAB097B3B65}"/>
              </a:ext>
            </a:extLst>
          </p:cNvPr>
          <p:cNvSpPr>
            <a:spLocks xmlns:a="http://schemas.openxmlformats.org/drawingml/2006/main" noGrp="1"/>
          </p:cNvSpPr>
          <p:nvPr/>
        </p:nvSpPr>
        <p:spPr>
          <a:xfrm xmlns:a="http://schemas.openxmlformats.org/drawingml/2006/main">
            <a:off x="609600" y="4191000"/>
            <a:ext cx="685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344C"/>
                </a:solidFill>
                <a:latin typeface="Arial"/>
                <a:ea typeface="Arial"/>
                <a:cs typeface="Arial"/>
              </a:defRPr>
            </a:pPr>
            <a:r>
              <a:rPr sz="2325" b="1">
                <a:solidFill>
                  <a:srgbClr val="16344C"/>
                </a:solidFill>
                <a:latin typeface="Arial"/>
                <a:ea typeface="Arial"/>
                <a:cs typeface="Arial"/>
              </a:rPr>
              <a:t>Embedding 4.000 × 128</a:t>
            </a:r>
          </a:p>
          <a:p xmlns:a="http://schemas.openxmlformats.org/drawingml/2006/main">
            <a:pPr>
              <a:defRPr sz="2325" b="1">
                <a:solidFill>
                  <a:srgbClr val="16344C"/>
                </a:solidFill>
                <a:latin typeface="Arial"/>
                <a:ea typeface="Arial"/>
                <a:cs typeface="Arial"/>
              </a:defRPr>
            </a:pPr>
            <a:r>
              <a:rPr sz="2325" b="1">
                <a:solidFill>
                  <a:srgbClr val="16344C"/>
                </a:solidFill>
                <a:latin typeface="Arial"/>
                <a:ea typeface="Arial"/>
                <a:cs typeface="Arial"/>
              </a:rPr>
              <a:t>RNN 196 units, tanh</a:t>
            </a:r>
          </a:p>
          <a:p xmlns:a="http://schemas.openxmlformats.org/drawingml/2006/main">
            <a:pPr>
              <a:defRPr sz="2325" b="1">
                <a:solidFill>
                  <a:srgbClr val="16344C"/>
                </a:solidFill>
                <a:latin typeface="Arial"/>
                <a:ea typeface="Arial"/>
                <a:cs typeface="Arial"/>
              </a:defRPr>
            </a:pPr>
            <a:r>
              <a:rPr sz="2325" b="1">
                <a:solidFill>
                  <a:srgbClr val="16344C"/>
                </a:solidFill>
                <a:latin typeface="Arial"/>
                <a:ea typeface="Arial"/>
                <a:cs typeface="Arial"/>
              </a:rPr>
              <a:t>Dense 100 ReLU, softmax 3 lớp</a:t>
            </a:r>
          </a:p>
        </p:txBody>
      </p:sp>
      <p:sp>
        <p:nvSpPr>
          <p:cNvPr id="26" name="">
            <a:extLst xmlns:a="http://schemas.openxmlformats.org/drawingml/2006/main">
              <a:ext uri="{FF2B5EF4-FFF2-40B4-BE49-F238E27FC236}">
                <a16:creationId xmlns:a16="http://schemas.microsoft.com/office/drawing/2014/main" id="{0F266047-D525-4673-A56F-2BA48F4BC43C}"/>
              </a:ext>
            </a:extLst>
          </p:cNvPr>
          <p:cNvSpPr>
            <a:spLocks xmlns:a="http://schemas.openxmlformats.org/drawingml/2006/main" noGrp="1"/>
          </p:cNvSpPr>
          <p:nvPr/>
        </p:nvSpPr>
        <p:spPr>
          <a:xfrm xmlns:a="http://schemas.openxmlformats.org/drawingml/2006/main">
            <a:off x="8286750" y="42100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8658C"/>
                </a:solidFill>
                <a:latin typeface="Arial"/>
                <a:ea typeface="Arial"/>
                <a:cs typeface="Arial"/>
              </a:defRPr>
            </a:pPr>
            <a:r>
              <a:rPr sz="3300" b="1">
                <a:solidFill>
                  <a:srgbClr val="28658C"/>
                </a:solidFill>
                <a:latin typeface="Arial"/>
                <a:ea typeface="Arial"/>
                <a:cs typeface="Arial"/>
              </a:rPr>
              <a:t>595.703</a:t>
            </a:r>
          </a:p>
        </p:txBody>
      </p:sp>
      <p:sp>
        <p:nvSpPr>
          <p:cNvPr id="27" name="">
            <a:extLst xmlns:a="http://schemas.openxmlformats.org/drawingml/2006/main">
              <a:ext uri="{FF2B5EF4-FFF2-40B4-BE49-F238E27FC236}">
                <a16:creationId xmlns:a16="http://schemas.microsoft.com/office/drawing/2014/main" id="{57A57B13-B189-4EB4-8074-D46EAF14D595}"/>
              </a:ext>
            </a:extLst>
          </p:cNvPr>
          <p:cNvSpPr>
            <a:spLocks xmlns:a="http://schemas.openxmlformats.org/drawingml/2006/main" noGrp="1"/>
          </p:cNvSpPr>
          <p:nvPr/>
        </p:nvSpPr>
        <p:spPr>
          <a:xfrm xmlns:a="http://schemas.openxmlformats.org/drawingml/2006/main">
            <a:off x="8286750" y="4905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658C"/>
                </a:solidFill>
                <a:latin typeface="Arial"/>
                <a:ea typeface="Arial"/>
                <a:cs typeface="Arial"/>
              </a:defRPr>
            </a:pPr>
            <a:r>
              <a:rPr sz="2025" b="1">
                <a:solidFill>
                  <a:srgbClr val="28658C"/>
                </a:solidFill>
                <a:latin typeface="Arial"/>
                <a:ea typeface="Arial"/>
                <a:cs typeface="Arial"/>
              </a:rPr>
              <a:t>tham số trainable</a:t>
            </a:r>
          </a:p>
        </p:txBody>
      </p:sp>
      <p:sp>
        <p:nvSpPr>
          <p:cNvPr id="28" name="">
            <a:extLst xmlns:a="http://schemas.openxmlformats.org/drawingml/2006/main">
              <a:ext uri="{FF2B5EF4-FFF2-40B4-BE49-F238E27FC236}">
                <a16:creationId xmlns:a16="http://schemas.microsoft.com/office/drawing/2014/main" id="{488A8A01-44F2-42D2-80E9-578421B35146}"/>
              </a:ext>
            </a:extLst>
          </p:cNvPr>
          <p:cNvSpPr>
            <a:spLocks xmlns:a="http://schemas.openxmlformats.org/drawingml/2006/main" noGrp="1"/>
          </p:cNvSpPr>
          <p:nvPr/>
        </p:nvSpPr>
        <p:spPr>
          <a:xfrm xmlns:a="http://schemas.openxmlformats.org/drawingml/2006/main">
            <a:off x="609600" y="57245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D"/>
                </a:solidFill>
                <a:latin typeface="Arial"/>
                <a:ea typeface="Arial"/>
                <a:cs typeface="Arial"/>
              </a:defRPr>
            </a:pPr>
            <a:r>
              <a:rPr sz="1950" b="0">
                <a:solidFill>
                  <a:srgbClr val="526B7D"/>
                </a:solidFill>
                <a:latin typeface="Arial"/>
                <a:ea typeface="Arial"/>
                <a:cs typeface="Arial"/>
              </a:rPr>
              <a:t>T=40, post-padding, mask PAD. Embedding học cùng model, không pretrained.</a:t>
            </a:r>
          </a:p>
        </p:txBody>
      </p:sp>
    </p:spTree>
    <p:extLst>
      <p:ext uri="{BB962C8B-B14F-4D97-AF65-F5344CB8AC3E}">
        <p14:creationId xmlns:p14="http://schemas.microsoft.com/office/powerpoint/2010/main" val="5271059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DA4E53-3608-48D3-9C14-146CAAD6A7EA}"/>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HUẤN LUYỆN</a:t>
            </a:r>
          </a:p>
        </p:txBody>
      </p:sp>
      <p:sp>
        <p:nvSpPr>
          <p:cNvPr id="2" name="">
            <a:extLst xmlns:a="http://schemas.openxmlformats.org/drawingml/2006/main">
              <a:ext uri="{FF2B5EF4-FFF2-40B4-BE49-F238E27FC236}">
                <a16:creationId xmlns:a16="http://schemas.microsoft.com/office/drawing/2014/main" id="{E7CEBA1D-0905-4A76-948A-7F0735E5C590}"/>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Checkpoint chọn bằng validation Macro-F1</a:t>
            </a:r>
          </a:p>
        </p:txBody>
      </p:sp>
      <p:sp>
        <p:nvSpPr>
          <p:cNvPr id="3" name="">
            <a:extLst xmlns:a="http://schemas.openxmlformats.org/drawingml/2006/main">
              <a:ext uri="{FF2B5EF4-FFF2-40B4-BE49-F238E27FC236}">
                <a16:creationId xmlns:a16="http://schemas.microsoft.com/office/drawing/2014/main" id="{EC21D06E-E21F-461D-B1CB-599BA2F86D7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052EEE87-1499-49CF-A7F6-FFE472AC78AF}"/>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06</a:t>
            </a:r>
          </a:p>
        </p:txBody>
      </p:sp>
      <p:graphicFrame>
        <p:nvGraphicFramePr>
          <p:cNvPr id="12" name=""/>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555625">
                <a:tc>
                  <a:txBody>
                    <a:bodyPr/>
                    <a:lstStyle/>
                    <a:p>
                      <a:r>
                        <a:rPr sz="1800" b="1">
                          <a:solidFill>
                            <a:srgbClr val="FFFFFF"/>
                          </a:solidFill>
                          <a:latin typeface="Arial"/>
                          <a:ea typeface="Arial"/>
                          <a:cs typeface="Arial"/>
                        </a:rPr>
                        <a:t>Thành phần</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Thiết lập chính</a:t>
                      </a:r>
                    </a:p>
                  </a:txBody>
                  <a:tcPr marL="114300" marR="114300" marT="95250" marB="95250" anchor="ctr">
                    <a:solidFill>
                      <a:srgbClr val="16344C"/>
                    </a:solidFill>
                  </a:tcPr>
                </a:tc>
              </a:tr>
              <a:tr h="555625">
                <a:tc>
                  <a:txBody>
                    <a:bodyPr/>
                    <a:lstStyle/>
                    <a:p>
                      <a:r>
                        <a:rPr sz="1800" b="0">
                          <a:solidFill>
                            <a:srgbClr val="16344C"/>
                          </a:solidFill>
                          <a:latin typeface="Arial"/>
                          <a:ea typeface="Arial"/>
                          <a:cs typeface="Arial"/>
                        </a:rPr>
                        <a:t>Seeds</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42, 2026, 3407 trên cùng split</a:t>
                      </a:r>
                    </a:p>
                  </a:txBody>
                  <a:tcPr marL="114300" marR="114300" marT="95250" marB="95250" anchor="ctr">
                    <a:solidFill>
                      <a:srgbClr val="EEF3F6"/>
                    </a:solidFill>
                  </a:tcPr>
                </a:tc>
              </a:tr>
              <a:tr h="555625">
                <a:tc>
                  <a:txBody>
                    <a:bodyPr/>
                    <a:lstStyle/>
                    <a:p>
                      <a:r>
                        <a:rPr sz="1800" b="0">
                          <a:solidFill>
                            <a:srgbClr val="16344C"/>
                          </a:solidFill>
                          <a:latin typeface="Arial"/>
                          <a:ea typeface="Arial"/>
                          <a:cs typeface="Arial"/>
                        </a:rPr>
                        <a:t>Optimizer / LR</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Adam / 0,001, global clipnorm 1,0</a:t>
                      </a:r>
                    </a:p>
                  </a:txBody>
                  <a:tcPr marL="114300" marR="114300" marT="95250" marB="95250" anchor="ctr">
                    <a:solidFill>
                      <a:srgbClr val="FFFFFF"/>
                    </a:solidFill>
                  </a:tcPr>
                </a:tc>
              </a:tr>
              <a:tr h="555625">
                <a:tc>
                  <a:txBody>
                    <a:bodyPr/>
                    <a:lstStyle/>
                    <a:p>
                      <a:r>
                        <a:rPr sz="1800" b="0">
                          <a:solidFill>
                            <a:srgbClr val="16344C"/>
                          </a:solidFill>
                          <a:latin typeface="Arial"/>
                          <a:ea typeface="Arial"/>
                          <a:cs typeface="Arial"/>
                        </a:rPr>
                        <a:t>Batch / epoch budget</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32 / tối đa 20 epoch</a:t>
                      </a:r>
                    </a:p>
                  </a:txBody>
                  <a:tcPr marL="114300" marR="114300" marT="95250" marB="95250" anchor="ctr">
                    <a:solidFill>
                      <a:srgbClr val="EEF3F6"/>
                    </a:solidFill>
                  </a:tcPr>
                </a:tc>
              </a:tr>
              <a:tr h="555625">
                <a:tc>
                  <a:txBody>
                    <a:bodyPr/>
                    <a:lstStyle/>
                    <a:p>
                      <a:r>
                        <a:rPr sz="1800" b="0">
                          <a:solidFill>
                            <a:srgbClr val="16344C"/>
                          </a:solidFill>
                          <a:latin typeface="Arial"/>
                          <a:ea typeface="Arial"/>
                          <a:cs typeface="Arial"/>
                        </a:rPr>
                        <a:t>Early Stopping</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patience 5, min_delta 0,001</a:t>
                      </a:r>
                    </a:p>
                  </a:txBody>
                  <a:tcPr marL="114300" marR="114300" marT="95250" marB="95250" anchor="ctr">
                    <a:solidFill>
                      <a:srgbClr val="FFFFFF"/>
                    </a:solidFill>
                  </a:tcPr>
                </a:tc>
              </a:tr>
              <a:tr h="555625">
                <a:tc>
                  <a:txBody>
                    <a:bodyPr/>
                    <a:lstStyle/>
                    <a:p>
                      <a:r>
                        <a:rPr sz="1800" b="0">
                          <a:solidFill>
                            <a:srgbClr val="16344C"/>
                          </a:solidFill>
                          <a:latin typeface="Arial"/>
                          <a:ea typeface="Arial"/>
                          <a:cs typeface="Arial"/>
                        </a:rPr>
                        <a:t>Dropout</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Spatial 0,5, input/recurrent 0,3, sau RNN 0,2, Dense 0,4</a:t>
                      </a:r>
                    </a:p>
                  </a:txBody>
                  <a:tcPr marL="114300" marR="114300" marT="95250" marB="95250" anchor="ctr">
                    <a:solidFill>
                      <a:srgbClr val="EEF3F6"/>
                    </a:solidFill>
                  </a:tcPr>
                </a:tc>
              </a:tr>
            </a:tbl>
          </a:graphicData>
        </a:graphic>
      </p:graphicFrame>
      <p:sp>
        <p:nvSpPr>
          <p:cNvPr id="6" name="">
            <a:extLst xmlns:a="http://schemas.openxmlformats.org/drawingml/2006/main">
              <a:ext uri="{FF2B5EF4-FFF2-40B4-BE49-F238E27FC236}">
                <a16:creationId xmlns:a16="http://schemas.microsoft.com/office/drawing/2014/main" id="{0582F826-1F5B-4763-807E-8D9E61B32568}"/>
              </a:ext>
            </a:extLst>
          </p:cNvPr>
          <p:cNvSpPr>
            <a:spLocks xmlns:a="http://schemas.openxmlformats.org/drawingml/2006/main" noGrp="1"/>
          </p:cNvSpPr>
          <p:nvPr/>
        </p:nvSpPr>
        <p:spPr>
          <a:xfrm xmlns:a="http://schemas.openxmlformats.org/drawingml/2006/main">
            <a:off x="609600" y="5429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658C"/>
                </a:solidFill>
                <a:latin typeface="Arial"/>
                <a:ea typeface="Arial"/>
                <a:cs typeface="Arial"/>
              </a:defRPr>
            </a:pPr>
            <a:r>
              <a:rPr sz="2100" b="1">
                <a:solidFill>
                  <a:srgbClr val="28658C"/>
                </a:solidFill>
                <a:latin typeface="Arial"/>
                <a:ea typeface="Arial"/>
                <a:cs typeface="Arial"/>
              </a:rPr>
              <a:t>F1 tính trên toàn validation ở chế độ inference mỗi epoch</a:t>
            </a:r>
          </a:p>
        </p:txBody>
      </p:sp>
      <p:sp>
        <p:nvSpPr>
          <p:cNvPr id="7" name="">
            <a:extLst xmlns:a="http://schemas.openxmlformats.org/drawingml/2006/main">
              <a:ext uri="{FF2B5EF4-FFF2-40B4-BE49-F238E27FC236}">
                <a16:creationId xmlns:a16="http://schemas.microsoft.com/office/drawing/2014/main" id="{63BA6058-7BB2-4154-9465-71246AC4C42B}"/>
              </a:ext>
            </a:extLst>
          </p:cNvPr>
          <p:cNvSpPr>
            <a:spLocks xmlns:a="http://schemas.openxmlformats.org/drawingml/2006/main" noGrp="1"/>
          </p:cNvSpPr>
          <p:nvPr/>
        </p:nvSpPr>
        <p:spPr>
          <a:xfrm xmlns:a="http://schemas.openxmlformats.org/drawingml/2006/main">
            <a:off x="609600" y="59340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B7D"/>
                </a:solidFill>
                <a:latin typeface="Arial"/>
                <a:ea typeface="Arial"/>
                <a:cs typeface="Arial"/>
              </a:defRPr>
            </a:pPr>
            <a:r>
              <a:rPr sz="1650" b="0">
                <a:solidFill>
                  <a:srgbClr val="526B7D"/>
                </a:solidFill>
                <a:latin typeface="Arial"/>
                <a:ea typeface="Arial"/>
                <a:cs typeface="Arial"/>
              </a:rPr>
              <a:t>CPU macOS arm64, 10 cores, RAM 16 GiB, TensorFlow 2.20.0, Keras 3.11.3</a:t>
            </a:r>
          </a:p>
        </p:txBody>
      </p:sp>
    </p:spTree>
    <p:extLst>
      <p:ext uri="{BB962C8B-B14F-4D97-AF65-F5344CB8AC3E}">
        <p14:creationId xmlns:p14="http://schemas.microsoft.com/office/powerpoint/2010/main" val="6884586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2376D5-5E85-4938-945E-024FDE9C4354}"/>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BASELINE BINARY</a:t>
            </a:r>
          </a:p>
        </p:txBody>
      </p:sp>
      <p:sp>
        <p:nvSpPr>
          <p:cNvPr id="2" name="">
            <a:extLst xmlns:a="http://schemas.openxmlformats.org/drawingml/2006/main">
              <a:ext uri="{FF2B5EF4-FFF2-40B4-BE49-F238E27FC236}">
                <a16:creationId xmlns:a16="http://schemas.microsoft.com/office/drawing/2014/main" id="{6F21C453-81FA-467B-93D4-112A15B29D59}"/>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A2 cho thấy biến thiên lớn giữa training seeds</a:t>
            </a:r>
          </a:p>
        </p:txBody>
      </p:sp>
      <p:sp>
        <p:nvSpPr>
          <p:cNvPr id="3" name="">
            <a:extLst xmlns:a="http://schemas.openxmlformats.org/drawingml/2006/main">
              <a:ext uri="{FF2B5EF4-FFF2-40B4-BE49-F238E27FC236}">
                <a16:creationId xmlns:a16="http://schemas.microsoft.com/office/drawing/2014/main" id="{9A629276-DC7B-4016-BBF5-362DB032144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36AEAC45-F484-441E-ABFC-E5861019DCD1}"/>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07</a:t>
            </a:r>
          </a:p>
        </p:txBody>
      </p:sp>
      <p:graphicFrame>
        <p:nvGraphicFramePr>
          <p:cNvPr id="12" name=""/>
          <p:cNvGraphicFramePr/>
          <p:nvPr/>
        </p:nvGraphicFramePr>
        <p:xfrm>
          <a:off xmlns:a="http://schemas.openxmlformats.org/drawingml/2006/main" x="609600" y="2000250"/>
          <a:ext xmlns:a="http://schemas.openxmlformats.org/drawingml/2006/main" cx="10972800" cy="1952625"/>
        </p:xfrm>
        <a:graphic xmlns:a="http://schemas.openxmlformats.org/drawingml/2006/main">
          <a:graphicData uri="http://schemas.openxmlformats.org/drawingml/2006/table">
            <a:tbl>
              <a:tblPr/>
              <a:tblGrid>
                <a:gridCol w="3619500"/>
                <a:gridCol w="1619250"/>
                <a:gridCol w="3095625"/>
                <a:gridCol w="2638425"/>
              </a:tblGrid>
              <a:tr h="650875">
                <a:tc>
                  <a:txBody>
                    <a:bodyPr/>
                    <a:lstStyle/>
                    <a:p>
                      <a:r>
                        <a:rPr sz="1875" b="1">
                          <a:solidFill>
                            <a:srgbClr val="FFFFFF"/>
                          </a:solidFill>
                          <a:latin typeface="Arial"/>
                          <a:ea typeface="Arial"/>
                          <a:cs typeface="Arial"/>
                        </a:rPr>
                        <a:t>Baseline</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N test</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Test Accuracy</a:t>
                      </a:r>
                    </a:p>
                  </a:txBody>
                  <a:tcPr marL="114300" marR="114300" marT="95250" marB="95250" anchor="ctr">
                    <a:solidFill>
                      <a:srgbClr val="16344C"/>
                    </a:solidFill>
                  </a:tcPr>
                </a:tc>
                <a:tc>
                  <a:txBody>
                    <a:bodyPr/>
                    <a:lstStyle/>
                    <a:p>
                      <a:r>
                        <a:rPr sz="1875" b="1">
                          <a:solidFill>
                            <a:srgbClr val="FFFFFF"/>
                          </a:solidFill>
                          <a:latin typeface="Arial"/>
                          <a:ea typeface="Arial"/>
                          <a:cs typeface="Arial"/>
                        </a:rPr>
                        <a:t>Test Macro-F1</a:t>
                      </a:r>
                    </a:p>
                  </a:txBody>
                  <a:tcPr marL="114300" marR="114300" marT="95250" marB="95250" anchor="ctr">
                    <a:solidFill>
                      <a:srgbClr val="16344C"/>
                    </a:solidFill>
                  </a:tcPr>
                </a:tc>
              </a:tr>
              <a:tr h="650875">
                <a:tc>
                  <a:txBody>
                    <a:bodyPr/>
                    <a:lstStyle/>
                    <a:p>
                      <a:r>
                        <a:rPr sz="1875" b="0">
                          <a:solidFill>
                            <a:srgbClr val="16344C"/>
                          </a:solidFill>
                          <a:latin typeface="Arial"/>
                          <a:ea typeface="Arial"/>
                          <a:cs typeface="Arial"/>
                        </a:rPr>
                        <a:t>A1 chuyển thể, 1 seed</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1.963</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83,80%</a:t>
                      </a:r>
                    </a:p>
                  </a:txBody>
                  <a:tcPr marL="114300" marR="114300" marT="95250" marB="95250" anchor="ctr">
                    <a:solidFill>
                      <a:srgbClr val="EEF3F6"/>
                    </a:solidFill>
                  </a:tcPr>
                </a:tc>
                <a:tc>
                  <a:txBody>
                    <a:bodyPr/>
                    <a:lstStyle/>
                    <a:p>
                      <a:r>
                        <a:rPr sz="1875" b="0">
                          <a:solidFill>
                            <a:srgbClr val="16344C"/>
                          </a:solidFill>
                          <a:latin typeface="Arial"/>
                          <a:ea typeface="Arial"/>
                          <a:cs typeface="Arial"/>
                        </a:rPr>
                        <a:t>0,8249</a:t>
                      </a:r>
                    </a:p>
                  </a:txBody>
                  <a:tcPr marL="114300" marR="114300" marT="95250" marB="95250" anchor="ctr">
                    <a:solidFill>
                      <a:srgbClr val="EEF3F6"/>
                    </a:solidFill>
                  </a:tcPr>
                </a:tc>
              </a:tr>
              <a:tr h="650875">
                <a:tc>
                  <a:txBody>
                    <a:bodyPr/>
                    <a:lstStyle/>
                    <a:p>
                      <a:r>
                        <a:rPr sz="1875" b="0">
                          <a:solidFill>
                            <a:srgbClr val="16344C"/>
                          </a:solidFill>
                          <a:latin typeface="Arial"/>
                          <a:ea typeface="Arial"/>
                          <a:cs typeface="Arial"/>
                        </a:rPr>
                        <a:t>A2 sạch, 3 seeds</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1.966</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74,08% ± 11,12 đpt</a:t>
                      </a:r>
                    </a:p>
                  </a:txBody>
                  <a:tcPr marL="114300" marR="114300" marT="95250" marB="95250" anchor="ctr">
                    <a:solidFill>
                      <a:srgbClr val="FFFFFF"/>
                    </a:solidFill>
                  </a:tcPr>
                </a:tc>
                <a:tc>
                  <a:txBody>
                    <a:bodyPr/>
                    <a:lstStyle/>
                    <a:p>
                      <a:r>
                        <a:rPr sz="1875" b="0">
                          <a:solidFill>
                            <a:srgbClr val="16344C"/>
                          </a:solidFill>
                          <a:latin typeface="Arial"/>
                          <a:ea typeface="Arial"/>
                          <a:cs typeface="Arial"/>
                        </a:rPr>
                        <a:t>0,6531 ± 0,2183</a:t>
                      </a:r>
                    </a:p>
                  </a:txBody>
                  <a:tcPr marL="114300" marR="11430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FAA76DF-3799-4E91-9880-F6A541346E1B}"/>
              </a:ext>
            </a:extLst>
          </p:cNvPr>
          <p:cNvSpPr>
            <a:spLocks xmlns:a="http://schemas.openxmlformats.org/drawingml/2006/main" noGrp="1"/>
          </p:cNvSpPr>
          <p:nvPr/>
        </p:nvSpPr>
        <p:spPr>
          <a:xfrm xmlns:a="http://schemas.openxmlformats.org/drawingml/2006/main">
            <a:off x="609600" y="43053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658C"/>
                </a:solidFill>
                <a:latin typeface="Arial"/>
                <a:ea typeface="Arial"/>
                <a:cs typeface="Arial"/>
              </a:defRPr>
            </a:pPr>
            <a:r>
              <a:rPr sz="2400" b="1">
                <a:solidFill>
                  <a:srgbClr val="28658C"/>
                </a:solidFill>
                <a:latin typeface="Arial"/>
                <a:ea typeface="Arial"/>
                <a:cs typeface="Arial"/>
              </a:rPr>
              <a:t>A2 seed 42 có F1 positive khoảng 0,0593</a:t>
            </a:r>
          </a:p>
        </p:txBody>
      </p:sp>
      <p:sp>
        <p:nvSpPr>
          <p:cNvPr id="7" name="">
            <a:extLst xmlns:a="http://schemas.openxmlformats.org/drawingml/2006/main">
              <a:ext uri="{FF2B5EF4-FFF2-40B4-BE49-F238E27FC236}">
                <a16:creationId xmlns:a16="http://schemas.microsoft.com/office/drawing/2014/main" id="{C790D182-4128-449C-8C6A-6630E70B9D66}"/>
              </a:ext>
            </a:extLst>
          </p:cNvPr>
          <p:cNvSpPr>
            <a:spLocks xmlns:a="http://schemas.openxmlformats.org/drawingml/2006/main" noGrp="1"/>
          </p:cNvSpPr>
          <p:nvPr/>
        </p:nvSpPr>
        <p:spPr>
          <a:xfrm xmlns:a="http://schemas.openxmlformats.org/drawingml/2006/main">
            <a:off x="609600" y="50006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Giữ đầy đủ kết quả của cả ba seeds</a:t>
            </a:r>
          </a:p>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A1/A2 khác dataset và protocol, chưa tách nguyên nhân</a:t>
            </a:r>
          </a:p>
          <a:p xmlns:a="http://schemas.openxmlformats.org/drawingml/2006/main">
            <a:pPr>
              <a:defRPr sz="2025" b="0">
                <a:solidFill>
                  <a:srgbClr val="16344C"/>
                </a:solidFill>
                <a:latin typeface="Arial"/>
                <a:ea typeface="Arial"/>
                <a:cs typeface="Arial"/>
              </a:defRPr>
            </a:pPr>
            <a:r>
              <a:rPr sz="2025" b="0">
                <a:solidFill>
                  <a:srgbClr val="16344C"/>
                </a:solidFill>
                <a:latin typeface="Arial"/>
                <a:ea typeface="Arial"/>
                <a:cs typeface="Arial"/>
              </a:rPr>
              <a:t>Không dùng test để đổi seed hoặc hyperparameter</a:t>
            </a:r>
          </a:p>
        </p:txBody>
      </p:sp>
    </p:spTree>
    <p:extLst>
      <p:ext uri="{BB962C8B-B14F-4D97-AF65-F5344CB8AC3E}">
        <p14:creationId xmlns:p14="http://schemas.microsoft.com/office/powerpoint/2010/main" val="8056921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DDFC99-C574-4195-98A6-8C0DC828F4F8}"/>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EXPERIMENT MATRIX</a:t>
            </a:r>
          </a:p>
        </p:txBody>
      </p:sp>
      <p:sp>
        <p:nvSpPr>
          <p:cNvPr id="2" name="">
            <a:extLst xmlns:a="http://schemas.openxmlformats.org/drawingml/2006/main">
              <a:ext uri="{FF2B5EF4-FFF2-40B4-BE49-F238E27FC236}">
                <a16:creationId xmlns:a16="http://schemas.microsoft.com/office/drawing/2014/main" id="{AA190EC0-BFFC-47F4-B4C3-E922C427DDF7}"/>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Các đối chứng B chỉ đổi một yếu tố so với C0</a:t>
            </a:r>
          </a:p>
        </p:txBody>
      </p:sp>
      <p:sp>
        <p:nvSpPr>
          <p:cNvPr id="3" name="">
            <a:extLst xmlns:a="http://schemas.openxmlformats.org/drawingml/2006/main">
              <a:ext uri="{FF2B5EF4-FFF2-40B4-BE49-F238E27FC236}">
                <a16:creationId xmlns:a16="http://schemas.microsoft.com/office/drawing/2014/main" id="{37F0D5F5-F2F3-4E7A-926D-725D19DF65F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6872D51A-03C6-4ECC-B82C-D94A8A35AC49}"/>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08</a:t>
            </a:r>
          </a:p>
        </p:txBody>
      </p:sp>
      <p:graphicFrame>
        <p:nvGraphicFramePr>
          <p:cNvPr id="11" name=""/>
          <p:cNvGraphicFramePr/>
          <p:nvPr/>
        </p:nvGraphicFramePr>
        <p:xfrm>
          <a:off xmlns:a="http://schemas.openxmlformats.org/drawingml/2006/main" x="609600" y="1800225"/>
          <a:ext xmlns:a="http://schemas.openxmlformats.org/drawingml/2006/main" cx="10972800" cy="3752850"/>
        </p:xfrm>
        <a:graphic xmlns:a="http://schemas.openxmlformats.org/drawingml/2006/main">
          <a:graphicData uri="http://schemas.openxmlformats.org/drawingml/2006/table">
            <a:tbl>
              <a:tblPr/>
              <a:tblGrid>
                <a:gridCol w="2286000"/>
                <a:gridCol w="3333750"/>
                <a:gridCol w="5353050"/>
              </a:tblGrid>
              <a:tr h="536121">
                <a:tc>
                  <a:txBody>
                    <a:bodyPr/>
                    <a:lstStyle/>
                    <a:p>
                      <a:r>
                        <a:rPr sz="1650" b="1">
                          <a:solidFill>
                            <a:srgbClr val="FFFFFF"/>
                          </a:solidFill>
                          <a:latin typeface="Arial"/>
                          <a:ea typeface="Arial"/>
                          <a:cs typeface="Arial"/>
                        </a:rPr>
                        <a:t>Config</a:t>
                      </a:r>
                    </a:p>
                  </a:txBody>
                  <a:tcPr marL="114300" marR="114300" marT="95250" marB="95250" anchor="ctr">
                    <a:solidFill>
                      <a:srgbClr val="16344C"/>
                    </a:solidFill>
                  </a:tcPr>
                </a:tc>
                <a:tc>
                  <a:txBody>
                    <a:bodyPr/>
                    <a:lstStyle/>
                    <a:p>
                      <a:r>
                        <a:rPr sz="1650" b="1">
                          <a:solidFill>
                            <a:srgbClr val="FFFFFF"/>
                          </a:solidFill>
                          <a:latin typeface="Arial"/>
                          <a:ea typeface="Arial"/>
                          <a:cs typeface="Arial"/>
                        </a:rPr>
                        <a:t>Yếu tố thay đổi</a:t>
                      </a:r>
                    </a:p>
                  </a:txBody>
                  <a:tcPr marL="114300" marR="114300" marT="95250" marB="95250" anchor="ctr">
                    <a:solidFill>
                      <a:srgbClr val="16344C"/>
                    </a:solidFill>
                  </a:tcPr>
                </a:tc>
                <a:tc>
                  <a:txBody>
                    <a:bodyPr/>
                    <a:lstStyle/>
                    <a:p>
                      <a:r>
                        <a:rPr sz="1650" b="1">
                          <a:solidFill>
                            <a:srgbClr val="FFFFFF"/>
                          </a:solidFill>
                          <a:latin typeface="Arial"/>
                          <a:ea typeface="Arial"/>
                          <a:cs typeface="Arial"/>
                        </a:rPr>
                        <a:t>Câu hỏi khảo sát</a:t>
                      </a:r>
                    </a:p>
                  </a:txBody>
                  <a:tcPr marL="114300" marR="114300" marT="95250" marB="95250" anchor="ctr">
                    <a:solidFill>
                      <a:srgbClr val="16344C"/>
                    </a:solidFill>
                  </a:tcPr>
                </a:tc>
              </a:tr>
              <a:tr h="536121">
                <a:tc>
                  <a:txBody>
                    <a:bodyPr/>
                    <a:lstStyle/>
                    <a:p>
                      <a:r>
                        <a:rPr sz="1650" b="0">
                          <a:solidFill>
                            <a:srgbClr val="16344C"/>
                          </a:solidFill>
                          <a:latin typeface="Arial"/>
                          <a:ea typeface="Arial"/>
                          <a:cs typeface="Arial"/>
                        </a:rPr>
                        <a:t>C0</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T40, H196, không class weights</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Mốc đối chứng ba lớp</a:t>
                      </a:r>
                    </a:p>
                  </a:txBody>
                  <a:tcPr marL="114300" marR="114300" marT="95250" marB="95250" anchor="ctr">
                    <a:solidFill>
                      <a:srgbClr val="EEF3F6"/>
                    </a:solidFill>
                  </a:tcPr>
                </a:tc>
              </a:tr>
              <a:tr h="536121">
                <a:tc>
                  <a:txBody>
                    <a:bodyPr/>
                    <a:lstStyle/>
                    <a:p>
                      <a:r>
                        <a:rPr sz="1650" b="0">
                          <a:solidFill>
                            <a:srgbClr val="16344C"/>
                          </a:solidFill>
                          <a:latin typeface="Arial"/>
                          <a:ea typeface="Arial"/>
                          <a:cs typeface="Arial"/>
                        </a:rPr>
                        <a:t>B1-20</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Sequence length 20</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Cắt chuỗi tác động quality/cost thế nào?</a:t>
                      </a:r>
                    </a:p>
                  </a:txBody>
                  <a:tcPr marL="114300" marR="114300" marT="95250" marB="95250" anchor="ctr">
                    <a:solidFill>
                      <a:srgbClr val="FFFFFF"/>
                    </a:solidFill>
                  </a:tcPr>
                </a:tc>
              </a:tr>
              <a:tr h="536121">
                <a:tc>
                  <a:txBody>
                    <a:bodyPr/>
                    <a:lstStyle/>
                    <a:p>
                      <a:r>
                        <a:rPr sz="1650" b="0">
                          <a:solidFill>
                            <a:srgbClr val="16344C"/>
                          </a:solidFill>
                          <a:latin typeface="Arial"/>
                          <a:ea typeface="Arial"/>
                          <a:cs typeface="Arial"/>
                        </a:rPr>
                        <a:t>B1-60</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Sequence length 60</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Thêm PAD có tăng chất lượng không?</a:t>
                      </a:r>
                    </a:p>
                  </a:txBody>
                  <a:tcPr marL="114300" marR="114300" marT="95250" marB="95250" anchor="ctr">
                    <a:solidFill>
                      <a:srgbClr val="EEF3F6"/>
                    </a:solidFill>
                  </a:tcPr>
                </a:tc>
              </a:tr>
              <a:tr h="536121">
                <a:tc>
                  <a:txBody>
                    <a:bodyPr/>
                    <a:lstStyle/>
                    <a:p>
                      <a:r>
                        <a:rPr sz="1650" b="0">
                          <a:solidFill>
                            <a:srgbClr val="16344C"/>
                          </a:solidFill>
                          <a:latin typeface="Arial"/>
                          <a:ea typeface="Arial"/>
                          <a:cs typeface="Arial"/>
                        </a:rPr>
                        <a:t>B3-64</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Hidden units 64</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Dung lượng thấp có đủ không?</a:t>
                      </a:r>
                    </a:p>
                  </a:txBody>
                  <a:tcPr marL="114300" marR="114300" marT="95250" marB="95250" anchor="ctr">
                    <a:solidFill>
                      <a:srgbClr val="FFFFFF"/>
                    </a:solidFill>
                  </a:tcPr>
                </a:tc>
              </a:tr>
              <a:tr h="536121">
                <a:tc>
                  <a:txBody>
                    <a:bodyPr/>
                    <a:lstStyle/>
                    <a:p>
                      <a:r>
                        <a:rPr sz="1650" b="0">
                          <a:solidFill>
                            <a:srgbClr val="16344C"/>
                          </a:solidFill>
                          <a:latin typeface="Arial"/>
                          <a:ea typeface="Arial"/>
                          <a:cs typeface="Arial"/>
                        </a:rPr>
                        <a:t>B3-128</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Hidden units 128</a:t>
                      </a:r>
                    </a:p>
                  </a:txBody>
                  <a:tcPr marL="114300" marR="114300" marT="95250" marB="95250" anchor="ctr">
                    <a:solidFill>
                      <a:srgbClr val="EEF3F6"/>
                    </a:solidFill>
                  </a:tcPr>
                </a:tc>
                <a:tc>
                  <a:txBody>
                    <a:bodyPr/>
                    <a:lstStyle/>
                    <a:p>
                      <a:r>
                        <a:rPr sz="1650" b="0">
                          <a:solidFill>
                            <a:srgbClr val="16344C"/>
                          </a:solidFill>
                          <a:latin typeface="Arial"/>
                          <a:ea typeface="Arial"/>
                          <a:cs typeface="Arial"/>
                        </a:rPr>
                        <a:t>Dung lượng trung gian có cải thiện không?</a:t>
                      </a:r>
                    </a:p>
                  </a:txBody>
                  <a:tcPr marL="114300" marR="114300" marT="95250" marB="95250" anchor="ctr">
                    <a:solidFill>
                      <a:srgbClr val="EEF3F6"/>
                    </a:solidFill>
                  </a:tcPr>
                </a:tc>
              </a:tr>
              <a:tr h="536121">
                <a:tc>
                  <a:txBody>
                    <a:bodyPr/>
                    <a:lstStyle/>
                    <a:p>
                      <a:r>
                        <a:rPr sz="1650" b="0">
                          <a:solidFill>
                            <a:srgbClr val="16344C"/>
                          </a:solidFill>
                          <a:latin typeface="Arial"/>
                          <a:ea typeface="Arial"/>
                          <a:cs typeface="Arial"/>
                        </a:rPr>
                        <a:t>B5-balanced</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Class weighting</a:t>
                      </a:r>
                    </a:p>
                  </a:txBody>
                  <a:tcPr marL="114300" marR="114300" marT="95250" marB="95250" anchor="ctr">
                    <a:solidFill>
                      <a:srgbClr val="FFFFFF"/>
                    </a:solidFill>
                  </a:tcPr>
                </a:tc>
                <a:tc>
                  <a:txBody>
                    <a:bodyPr/>
                    <a:lstStyle/>
                    <a:p>
                      <a:r>
                        <a:rPr sz="1650" b="0">
                          <a:solidFill>
                            <a:srgbClr val="16344C"/>
                          </a:solidFill>
                          <a:latin typeface="Arial"/>
                          <a:ea typeface="Arial"/>
                          <a:cs typeface="Arial"/>
                        </a:rPr>
                        <a:t>Neutral/positive có được nhận tốt hơn?</a:t>
                      </a:r>
                    </a:p>
                  </a:txBody>
                  <a:tcPr marL="114300" marR="114300" marT="9525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C676758-C983-4241-A857-F13DAECA7B44}"/>
              </a:ext>
            </a:extLst>
          </p:cNvPr>
          <p:cNvSpPr>
            <a:spLocks xmlns:a="http://schemas.openxmlformats.org/drawingml/2006/main" noGrp="1"/>
          </p:cNvSpPr>
          <p:nvPr/>
        </p:nvSpPr>
        <p:spPr>
          <a:xfrm xmlns:a="http://schemas.openxmlformats.org/drawingml/2006/main">
            <a:off x="609600" y="58959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Mỗi configuration chính chạy 3 seeds. Split, P0, vocabulary, embedding và LR giữ cố định.</a:t>
            </a:r>
          </a:p>
        </p:txBody>
      </p:sp>
    </p:spTree>
    <p:extLst>
      <p:ext uri="{BB962C8B-B14F-4D97-AF65-F5344CB8AC3E}">
        <p14:creationId xmlns:p14="http://schemas.microsoft.com/office/powerpoint/2010/main" val="11334604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AE4F97-C7CF-4669-8CD2-4B45F3203172}"/>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LỰA CHỌN CẤU HÌNH</a:t>
            </a:r>
          </a:p>
        </p:txBody>
      </p:sp>
      <p:sp>
        <p:nvSpPr>
          <p:cNvPr id="2" name="">
            <a:extLst xmlns:a="http://schemas.openxmlformats.org/drawingml/2006/main">
              <a:ext uri="{FF2B5EF4-FFF2-40B4-BE49-F238E27FC236}">
                <a16:creationId xmlns:a16="http://schemas.microsoft.com/office/drawing/2014/main" id="{1538F2DE-7F9D-4373-A322-884A594DDA17}"/>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B5-balanced có validation Macro-F1 cao nhất</a:t>
            </a:r>
          </a:p>
        </p:txBody>
      </p:sp>
      <p:sp>
        <p:nvSpPr>
          <p:cNvPr id="3" name="">
            <a:extLst xmlns:a="http://schemas.openxmlformats.org/drawingml/2006/main">
              <a:ext uri="{FF2B5EF4-FFF2-40B4-BE49-F238E27FC236}">
                <a16:creationId xmlns:a16="http://schemas.microsoft.com/office/drawing/2014/main" id="{6620E69A-2343-4D9E-B85B-71AC94D4689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921A9888-396F-41A4-8D69-2DFF6A685D94}"/>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09</a:t>
            </a:r>
          </a:p>
        </p:txBody>
      </p:sp>
      <p:graphicFrame>
        <p:nvGraphicFramePr>
          <p:cNvPr id="12" name="Chart"/>
          <p:cNvGraphicFramePr/>
          <p:nvPr/>
        </p:nvGraphicFramePr>
        <p:xfrm>
          <a:off xmlns:a="http://schemas.openxmlformats.org/drawingml/2006/main" x="609600" y="1790700"/>
          <a:ext xmlns:a="http://schemas.openxmlformats.org/drawingml/2006/main" cx="10972800" cy="3552825"/>
        </p:xfrm>
        <a:graphic xmlns:a="http://schemas.openxmlformats.org/drawingml/2006/main">
          <a:graphicData uri="http://schemas.openxmlformats.org/drawingml/2006/chart">
            <c:chart xmlns:r="http://schemas.openxmlformats.org/officeDocument/2006/relationships" xmlns:c="http://schemas.openxmlformats.org/drawingml/2006/chart" r:id="Rcc96c2a6c1524dc0"/>
          </a:graphicData>
        </a:graphic>
      </p:graphicFrame>
      <p:sp>
        <p:nvSpPr>
          <p:cNvPr id="6" name="">
            <a:extLst xmlns:a="http://schemas.openxmlformats.org/drawingml/2006/main">
              <a:ext uri="{FF2B5EF4-FFF2-40B4-BE49-F238E27FC236}">
                <a16:creationId xmlns:a16="http://schemas.microsoft.com/office/drawing/2014/main" id="{AD1AD51E-AE17-47A2-8A7F-328D9B17EEEA}"/>
              </a:ext>
            </a:extLst>
          </p:cNvPr>
          <p:cNvSpPr>
            <a:spLocks xmlns:a="http://schemas.openxmlformats.org/drawingml/2006/main" noGrp="1"/>
          </p:cNvSpPr>
          <p:nvPr/>
        </p:nvSpPr>
        <p:spPr>
          <a:xfrm xmlns:a="http://schemas.openxmlformats.org/drawingml/2006/main">
            <a:off x="609600" y="56292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44C"/>
                </a:solidFill>
                <a:latin typeface="Arial"/>
                <a:ea typeface="Arial"/>
                <a:cs typeface="Arial"/>
              </a:defRPr>
            </a:pPr>
            <a:r>
              <a:rPr sz="2250" b="1">
                <a:solidFill>
                  <a:srgbClr val="16344C"/>
                </a:solidFill>
                <a:latin typeface="Arial"/>
                <a:ea typeface="Arial"/>
                <a:cs typeface="Arial"/>
              </a:rPr>
              <a:t>B5: 0,6926 ± 0,0115. C0: 0,6623 ± 0,0017</a:t>
            </a:r>
          </a:p>
        </p:txBody>
      </p:sp>
      <p:sp>
        <p:nvSpPr>
          <p:cNvPr id="7" name="">
            <a:extLst xmlns:a="http://schemas.openxmlformats.org/drawingml/2006/main">
              <a:ext uri="{FF2B5EF4-FFF2-40B4-BE49-F238E27FC236}">
                <a16:creationId xmlns:a16="http://schemas.microsoft.com/office/drawing/2014/main" id="{6529C61C-44F6-4A67-AC32-542E7D0C72E1}"/>
              </a:ext>
            </a:extLst>
          </p:cNvPr>
          <p:cNvSpPr>
            <a:spLocks xmlns:a="http://schemas.openxmlformats.org/drawingml/2006/main" noGrp="1"/>
          </p:cNvSpPr>
          <p:nvPr/>
        </p:nvSpPr>
        <p:spPr>
          <a:xfrm xmlns:a="http://schemas.openxmlformats.org/drawingml/2006/main">
            <a:off x="609600" y="61245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B7D"/>
                </a:solidFill>
                <a:latin typeface="Arial"/>
                <a:ea typeface="Arial"/>
                <a:cs typeface="Arial"/>
              </a:defRPr>
            </a:pPr>
            <a:r>
              <a:rPr sz="1650" b="0">
                <a:solidFill>
                  <a:srgbClr val="526B7D"/>
                </a:solidFill>
                <a:latin typeface="Arial"/>
                <a:ea typeface="Arial"/>
                <a:cs typeface="Arial"/>
              </a:rPr>
              <a:t>SD phản ánh training seeds trên cùng split. Chọn config trước test.</a:t>
            </a:r>
          </a:p>
        </p:txBody>
      </p:sp>
    </p:spTree>
    <p:extLst>
      <p:ext uri="{BB962C8B-B14F-4D97-AF65-F5344CB8AC3E}">
        <p14:creationId xmlns:p14="http://schemas.microsoft.com/office/powerpoint/2010/main" val="3473609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633216-981B-4AA9-B04E-4CDB510EB476}"/>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CHI PHÍ VÀ BIỂU DIỄN</a:t>
            </a:r>
          </a:p>
        </p:txBody>
      </p:sp>
      <p:sp>
        <p:nvSpPr>
          <p:cNvPr id="2" name="">
            <a:extLst xmlns:a="http://schemas.openxmlformats.org/drawingml/2006/main">
              <a:ext uri="{FF2B5EF4-FFF2-40B4-BE49-F238E27FC236}">
                <a16:creationId xmlns:a16="http://schemas.microsoft.com/office/drawing/2014/main" id="{B2BE9182-FA0F-432D-A973-370CE2FEC22A}"/>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T60 tăng thời gian nhưng không thêm token thật</a:t>
            </a:r>
          </a:p>
        </p:txBody>
      </p:sp>
      <p:sp>
        <p:nvSpPr>
          <p:cNvPr id="3" name="">
            <a:extLst xmlns:a="http://schemas.openxmlformats.org/drawingml/2006/main">
              <a:ext uri="{FF2B5EF4-FFF2-40B4-BE49-F238E27FC236}">
                <a16:creationId xmlns:a16="http://schemas.microsoft.com/office/drawing/2014/main" id="{038C96F5-8561-4C10-8585-D05D634FC9C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E4A2C1C7-09A1-4598-9976-C0EAF661775A}"/>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10</a:t>
            </a:r>
          </a:p>
        </p:txBody>
      </p:sp>
      <p:graphicFrame>
        <p:nvGraphicFramePr>
          <p:cNvPr id="12" name="Chart"/>
          <p:cNvGraphicFramePr/>
          <p:nvPr/>
        </p:nvGraphicFramePr>
        <p:xfrm>
          <a:off xmlns:a="http://schemas.openxmlformats.org/drawingml/2006/main" x="609600" y="1857375"/>
          <a:ext xmlns:a="http://schemas.openxmlformats.org/drawingml/2006/main" cx="7620000" cy="3733800"/>
        </p:xfrm>
        <a:graphic xmlns:a="http://schemas.openxmlformats.org/drawingml/2006/main">
          <a:graphicData uri="http://schemas.openxmlformats.org/drawingml/2006/chart">
            <c:chart xmlns:r="http://schemas.openxmlformats.org/officeDocument/2006/relationships" xmlns:c="http://schemas.openxmlformats.org/drawingml/2006/chart" r:id="R278098a5106341b8"/>
          </a:graphicData>
        </a:graphic>
      </p:graphicFrame>
      <p:sp>
        <p:nvSpPr>
          <p:cNvPr id="6" name="">
            <a:extLst xmlns:a="http://schemas.openxmlformats.org/drawingml/2006/main">
              <a:ext uri="{FF2B5EF4-FFF2-40B4-BE49-F238E27FC236}">
                <a16:creationId xmlns:a16="http://schemas.microsoft.com/office/drawing/2014/main" id="{5A1FE4D4-45E4-4718-B272-5934931F4FA1}"/>
              </a:ext>
            </a:extLst>
          </p:cNvPr>
          <p:cNvSpPr>
            <a:spLocks xmlns:a="http://schemas.openxmlformats.org/drawingml/2006/main" noGrp="1"/>
          </p:cNvSpPr>
          <p:nvPr/>
        </p:nvSpPr>
        <p:spPr>
          <a:xfrm xmlns:a="http://schemas.openxmlformats.org/drawingml/2006/main">
            <a:off x="8572500" y="2295525"/>
            <a:ext cx="3000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344C"/>
                </a:solidFill>
                <a:latin typeface="Arial"/>
                <a:ea typeface="Arial"/>
                <a:cs typeface="Arial"/>
              </a:defRPr>
            </a:pPr>
            <a:r>
              <a:rPr sz="2025" b="1">
                <a:solidFill>
                  <a:srgbClr val="16344C"/>
                </a:solidFill>
                <a:latin typeface="Arial"/>
                <a:ea typeface="Arial"/>
                <a:cs typeface="Arial"/>
              </a:rPr>
              <a:t>Max độ dài train = 34</a:t>
            </a:r>
          </a:p>
          <a:p xmlns:a="http://schemas.openxmlformats.org/drawingml/2006/main">
            <a:pPr>
              <a:defRPr sz="2025" b="1">
                <a:solidFill>
                  <a:srgbClr val="16344C"/>
                </a:solidFill>
                <a:latin typeface="Arial"/>
                <a:ea typeface="Arial"/>
                <a:cs typeface="Arial"/>
              </a:defRPr>
            </a:pPr>
            <a:r>
              <a:rPr sz="2025" b="1">
                <a:solidFill>
                  <a:srgbClr val="16344C"/>
                </a:solidFill>
                <a:latin typeface="Arial"/>
                <a:ea typeface="Arial"/>
                <a:cs typeface="Arial"/>
              </a:rPr>
              <a:t>T40 và T60 không cắt chuỗi</a:t>
            </a:r>
          </a:p>
          <a:p xmlns:a="http://schemas.openxmlformats.org/drawingml/2006/main">
            <a:pPr>
              <a:defRPr sz="2025" b="1">
                <a:solidFill>
                  <a:srgbClr val="16344C"/>
                </a:solidFill>
                <a:latin typeface="Arial"/>
                <a:ea typeface="Arial"/>
                <a:cs typeface="Arial"/>
              </a:defRPr>
            </a:pPr>
            <a:r>
              <a:rPr sz="2025" b="1">
                <a:solidFill>
                  <a:srgbClr val="16344C"/>
                </a:solidFill>
                <a:latin typeface="Arial"/>
                <a:ea typeface="Arial"/>
                <a:cs typeface="Arial"/>
              </a:rPr>
              <a:t>Mask bỏ qua PAD</a:t>
            </a:r>
          </a:p>
        </p:txBody>
      </p:sp>
      <p:sp>
        <p:nvSpPr>
          <p:cNvPr id="7" name="">
            <a:extLst xmlns:a="http://schemas.openxmlformats.org/drawingml/2006/main">
              <a:ext uri="{FF2B5EF4-FFF2-40B4-BE49-F238E27FC236}">
                <a16:creationId xmlns:a16="http://schemas.microsoft.com/office/drawing/2014/main" id="{06038546-54B3-4732-A53C-1CC39F0E4B46}"/>
              </a:ext>
            </a:extLst>
          </p:cNvPr>
          <p:cNvSpPr>
            <a:spLocks xmlns:a="http://schemas.openxmlformats.org/drawingml/2006/main" noGrp="1"/>
          </p:cNvSpPr>
          <p:nvPr/>
        </p:nvSpPr>
        <p:spPr>
          <a:xfrm xmlns:a="http://schemas.openxmlformats.org/drawingml/2006/main">
            <a:off x="8572500" y="4029075"/>
            <a:ext cx="3000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Validation của T40/T60</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giống nhau ở cả 3 seeds</a:t>
            </a:r>
          </a:p>
          <a:p xmlns:a="http://schemas.openxmlformats.org/drawingml/2006/main">
            <a:r>
              <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T60 tốn thêm khoảng 42%</a:t>
            </a:r>
          </a:p>
        </p:txBody>
      </p:sp>
    </p:spTree>
    <p:extLst>
      <p:ext uri="{BB962C8B-B14F-4D97-AF65-F5344CB8AC3E}">
        <p14:creationId xmlns:p14="http://schemas.microsoft.com/office/powerpoint/2010/main" val="12197804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EE2C60-ABE6-43DF-9EA9-A2C3747A865A}"/>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HỘI TỤ</a:t>
            </a:r>
          </a:p>
        </p:txBody>
      </p:sp>
      <p:sp>
        <p:nvSpPr>
          <p:cNvPr id="2" name="">
            <a:extLst xmlns:a="http://schemas.openxmlformats.org/drawingml/2006/main">
              <a:ext uri="{FF2B5EF4-FFF2-40B4-BE49-F238E27FC236}">
                <a16:creationId xmlns:a16="http://schemas.microsoft.com/office/drawing/2014/main" id="{0E4C07E6-A44F-43B0-803A-EB23F55F23C4}"/>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Checkpoint demo ở epoch 16 trong 20 epoch</a:t>
            </a:r>
          </a:p>
        </p:txBody>
      </p:sp>
      <p:sp>
        <p:nvSpPr>
          <p:cNvPr id="3" name="">
            <a:extLst xmlns:a="http://schemas.openxmlformats.org/drawingml/2006/main">
              <a:ext uri="{FF2B5EF4-FFF2-40B4-BE49-F238E27FC236}">
                <a16:creationId xmlns:a16="http://schemas.microsoft.com/office/drawing/2014/main" id="{1B49642B-2AC1-4C1F-8477-91EF0D7860A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FD8CF397-2529-44D6-847B-4C5BD60C5821}"/>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11</a:t>
            </a:r>
          </a:p>
        </p:txBody>
      </p:sp>
      <p:graphicFrame>
        <p:nvGraphicFramePr>
          <p:cNvPr id="12" name="Chart"/>
          <p:cNvGraphicFramePr/>
          <p:nvPr/>
        </p:nvGraphicFramePr>
        <p:xfrm>
          <a:off xmlns:a="http://schemas.openxmlformats.org/drawingml/2006/main" x="609600" y="1809750"/>
          <a:ext xmlns:a="http://schemas.openxmlformats.org/drawingml/2006/main" cx="8572500" cy="3905250"/>
        </p:xfrm>
        <a:graphic xmlns:a="http://schemas.openxmlformats.org/drawingml/2006/main">
          <a:graphicData uri="http://schemas.openxmlformats.org/drawingml/2006/chart">
            <c:chart xmlns:r="http://schemas.openxmlformats.org/officeDocument/2006/relationships" xmlns:c="http://schemas.openxmlformats.org/drawingml/2006/chart" r:id="R390bf9732a5f4acc"/>
          </a:graphicData>
        </a:graphic>
      </p:graphicFrame>
      <p:sp>
        <p:nvSpPr>
          <p:cNvPr id="6" name="">
            <a:extLst xmlns:a="http://schemas.openxmlformats.org/drawingml/2006/main">
              <a:ext uri="{FF2B5EF4-FFF2-40B4-BE49-F238E27FC236}">
                <a16:creationId xmlns:a16="http://schemas.microsoft.com/office/drawing/2014/main" id="{E65A6651-D343-4468-B9B7-CF57F01FB26C}"/>
              </a:ext>
            </a:extLst>
          </p:cNvPr>
          <p:cNvSpPr>
            <a:spLocks xmlns:a="http://schemas.openxmlformats.org/drawingml/2006/main" noGrp="1"/>
          </p:cNvSpPr>
          <p:nvPr/>
        </p:nvSpPr>
        <p:spPr>
          <a:xfrm xmlns:a="http://schemas.openxmlformats.org/drawingml/2006/main">
            <a:off x="9525000" y="2371725"/>
            <a:ext cx="20955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344C"/>
                </a:solidFill>
                <a:latin typeface="Arial"/>
                <a:ea typeface="Arial"/>
                <a:cs typeface="Arial"/>
              </a:defRPr>
            </a:pPr>
            <a:r>
              <a:rPr sz="2100" b="1">
                <a:solidFill>
                  <a:srgbClr val="16344C"/>
                </a:solidFill>
                <a:latin typeface="Arial"/>
                <a:ea typeface="Arial"/>
                <a:cs typeface="Arial"/>
              </a:rPr>
              <a:t>B5 seed 3407</a:t>
            </a:r>
          </a:p>
          <a:p xmlns:a="http://schemas.openxmlformats.org/drawingml/2006/main">
            <a:pPr>
              <a:defRPr sz="2100" b="1">
                <a:solidFill>
                  <a:srgbClr val="16344C"/>
                </a:solidFill>
                <a:latin typeface="Arial"/>
                <a:ea typeface="Arial"/>
                <a:cs typeface="Arial"/>
              </a:defRPr>
            </a:pPr>
            <a:r>
              <a:rPr sz="2100" b="1">
                <a:solidFill>
                  <a:srgbClr val="16344C"/>
                </a:solidFill>
                <a:latin typeface="Arial"/>
                <a:ea typeface="Arial"/>
                <a:cs typeface="Arial"/>
              </a:rPr>
              <a:t>Val Macro-F1 best</a:t>
            </a:r>
          </a:p>
          <a:p xmlns:a="http://schemas.openxmlformats.org/drawingml/2006/main">
            <a:pPr>
              <a:defRPr sz="2100" b="1">
                <a:solidFill>
                  <a:srgbClr val="16344C"/>
                </a:solidFill>
                <a:latin typeface="Arial"/>
                <a:ea typeface="Arial"/>
                <a:cs typeface="Arial"/>
              </a:defRPr>
            </a:pPr>
            <a:r>
              <a:rPr sz="2100" b="1">
                <a:solidFill>
                  <a:srgbClr val="16344C"/>
                </a:solidFill>
                <a:latin typeface="Arial"/>
                <a:ea typeface="Arial"/>
                <a:cs typeface="Arial"/>
              </a:rPr>
              <a:t>0,6935</a:t>
            </a:r>
          </a:p>
        </p:txBody>
      </p:sp>
      <p:sp>
        <p:nvSpPr>
          <p:cNvPr id="7" name="">
            <a:extLst xmlns:a="http://schemas.openxmlformats.org/drawingml/2006/main">
              <a:ext uri="{FF2B5EF4-FFF2-40B4-BE49-F238E27FC236}">
                <a16:creationId xmlns:a16="http://schemas.microsoft.com/office/drawing/2014/main" id="{A79B1CB4-EFE8-46DE-B89C-5B901109FEF1}"/>
              </a:ext>
            </a:extLst>
          </p:cNvPr>
          <p:cNvSpPr>
            <a:spLocks xmlns:a="http://schemas.openxmlformats.org/drawingml/2006/main" noGrp="1"/>
          </p:cNvSpPr>
          <p:nvPr/>
        </p:nvSpPr>
        <p:spPr>
          <a:xfrm xmlns:a="http://schemas.openxmlformats.org/drawingml/2006/main">
            <a:off x="9525000" y="4210050"/>
            <a:ext cx="2095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Fit train có dropout</a:t>
            </a:r>
          </a:p>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F1 ở hình này tính</a:t>
            </a:r>
          </a:p>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inference toàn tập</a:t>
            </a:r>
          </a:p>
        </p:txBody>
      </p:sp>
    </p:spTree>
    <p:extLst>
      <p:ext uri="{BB962C8B-B14F-4D97-AF65-F5344CB8AC3E}">
        <p14:creationId xmlns:p14="http://schemas.microsoft.com/office/powerpoint/2010/main" val="185582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ACFEB0-FD6A-4354-A3E4-3AB583EBDEE0}"/>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KẾT QUẢ CUỐI</a:t>
            </a:r>
          </a:p>
        </p:txBody>
      </p:sp>
      <p:sp>
        <p:nvSpPr>
          <p:cNvPr id="2" name="">
            <a:extLst xmlns:a="http://schemas.openxmlformats.org/drawingml/2006/main">
              <a:ext uri="{FF2B5EF4-FFF2-40B4-BE49-F238E27FC236}">
                <a16:creationId xmlns:a16="http://schemas.microsoft.com/office/drawing/2014/main" id="{C946C978-9705-42C1-A0FD-872CC9F596A4}"/>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B5 đạt test Macro-F1 trung bình 0,6914</a:t>
            </a:r>
          </a:p>
        </p:txBody>
      </p:sp>
      <p:sp>
        <p:nvSpPr>
          <p:cNvPr id="3" name="">
            <a:extLst xmlns:a="http://schemas.openxmlformats.org/drawingml/2006/main">
              <a:ext uri="{FF2B5EF4-FFF2-40B4-BE49-F238E27FC236}">
                <a16:creationId xmlns:a16="http://schemas.microsoft.com/office/drawing/2014/main" id="{ABD4C45C-2052-4D74-8C1D-07FA8877C00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483338E2-EC10-4C6A-A6F0-2207CC51D4B8}"/>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12</a:t>
            </a:r>
          </a:p>
        </p:txBody>
      </p:sp>
      <p:graphicFrame>
        <p:nvGraphicFramePr>
          <p:cNvPr id="13" name="Chart"/>
          <p:cNvGraphicFramePr/>
          <p:nvPr/>
        </p:nvGraphicFramePr>
        <p:xfrm>
          <a:off xmlns:a="http://schemas.openxmlformats.org/drawingml/2006/main" x="609600" y="1838325"/>
          <a:ext xmlns:a="http://schemas.openxmlformats.org/drawingml/2006/main" cx="7620000" cy="3790950"/>
        </p:xfrm>
        <a:graphic xmlns:a="http://schemas.openxmlformats.org/drawingml/2006/main">
          <a:graphicData uri="http://schemas.openxmlformats.org/drawingml/2006/chart">
            <c:chart xmlns:r="http://schemas.openxmlformats.org/officeDocument/2006/relationships" xmlns:c="http://schemas.openxmlformats.org/drawingml/2006/chart" r:id="Re49048458a7d47fc"/>
          </a:graphicData>
        </a:graphic>
      </p:graphicFrame>
      <p:sp>
        <p:nvSpPr>
          <p:cNvPr id="6" name="">
            <a:extLst xmlns:a="http://schemas.openxmlformats.org/drawingml/2006/main">
              <a:ext uri="{FF2B5EF4-FFF2-40B4-BE49-F238E27FC236}">
                <a16:creationId xmlns:a16="http://schemas.microsoft.com/office/drawing/2014/main" id="{71387353-06E0-4D6B-9A9A-027CE487A8AB}"/>
              </a:ext>
            </a:extLst>
          </p:cNvPr>
          <p:cNvSpPr>
            <a:spLocks xmlns:a="http://schemas.openxmlformats.org/drawingml/2006/main" noGrp="1"/>
          </p:cNvSpPr>
          <p:nvPr/>
        </p:nvSpPr>
        <p:spPr>
          <a:xfrm xmlns:a="http://schemas.openxmlformats.org/drawingml/2006/main">
            <a:off x="8572500" y="2171700"/>
            <a:ext cx="304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658C"/>
                </a:solidFill>
                <a:latin typeface="Arial"/>
                <a:ea typeface="Arial"/>
                <a:cs typeface="Arial"/>
              </a:defRPr>
            </a:pPr>
            <a:r>
              <a:rPr sz="2400" b="1">
                <a:solidFill>
                  <a:srgbClr val="28658C"/>
                </a:solidFill>
                <a:latin typeface="Arial"/>
                <a:ea typeface="Arial"/>
                <a:cs typeface="Arial"/>
              </a:rPr>
              <a:t>75,18% ± 1,34 đpt</a:t>
            </a:r>
          </a:p>
          <a:p xmlns:a="http://schemas.openxmlformats.org/drawingml/2006/main">
            <a:pPr>
              <a:defRPr sz="2400" b="1">
                <a:solidFill>
                  <a:srgbClr val="28658C"/>
                </a:solidFill>
                <a:latin typeface="Arial"/>
                <a:ea typeface="Arial"/>
                <a:cs typeface="Arial"/>
              </a:defRPr>
            </a:pPr>
            <a:r>
              <a:rPr sz="2400" b="1">
                <a:solidFill>
                  <a:srgbClr val="28658C"/>
                </a:solidFill>
                <a:latin typeface="Arial"/>
                <a:ea typeface="Arial"/>
                <a:cs typeface="Arial"/>
              </a:rPr>
              <a:t>Accuracy</a:t>
            </a:r>
          </a:p>
        </p:txBody>
      </p:sp>
      <p:sp>
        <p:nvSpPr>
          <p:cNvPr id="7" name="">
            <a:extLst xmlns:a="http://schemas.openxmlformats.org/drawingml/2006/main">
              <a:ext uri="{FF2B5EF4-FFF2-40B4-BE49-F238E27FC236}">
                <a16:creationId xmlns:a16="http://schemas.microsoft.com/office/drawing/2014/main" id="{847B5ADB-F423-45B6-BCEF-6D94896A284E}"/>
              </a:ext>
            </a:extLst>
          </p:cNvPr>
          <p:cNvSpPr>
            <a:spLocks xmlns:a="http://schemas.openxmlformats.org/drawingml/2006/main" noGrp="1"/>
          </p:cNvSpPr>
          <p:nvPr/>
        </p:nvSpPr>
        <p:spPr>
          <a:xfrm xmlns:a="http://schemas.openxmlformats.org/drawingml/2006/main">
            <a:off x="8572500" y="3505200"/>
            <a:ext cx="304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E8C7E"/>
                </a:solidFill>
                <a:latin typeface="Arial"/>
                <a:ea typeface="Arial"/>
                <a:cs typeface="Arial"/>
              </a:defRPr>
            </a:pPr>
            <a:r>
              <a:rPr sz="2400" b="1">
                <a:solidFill>
                  <a:srgbClr val="2E8C7E"/>
                </a:solidFill>
                <a:latin typeface="Arial"/>
                <a:ea typeface="Arial"/>
                <a:cs typeface="Arial"/>
              </a:rPr>
              <a:t>0,6914 ± 0,0158</a:t>
            </a:r>
          </a:p>
          <a:p xmlns:a="http://schemas.openxmlformats.org/drawingml/2006/main">
            <a:pPr>
              <a:defRPr sz="2400" b="1">
                <a:solidFill>
                  <a:srgbClr val="2E8C7E"/>
                </a:solidFill>
                <a:latin typeface="Arial"/>
                <a:ea typeface="Arial"/>
                <a:cs typeface="Arial"/>
              </a:defRPr>
            </a:pPr>
            <a:r>
              <a:rPr sz="2400" b="1">
                <a:solidFill>
                  <a:srgbClr val="2E8C7E"/>
                </a:solidFill>
                <a:latin typeface="Arial"/>
                <a:ea typeface="Arial"/>
                <a:cs typeface="Arial"/>
              </a:rPr>
              <a:t>Macro-F1</a:t>
            </a:r>
          </a:p>
        </p:txBody>
      </p:sp>
      <p:sp>
        <p:nvSpPr>
          <p:cNvPr id="8" name="">
            <a:extLst xmlns:a="http://schemas.openxmlformats.org/drawingml/2006/main">
              <a:ext uri="{FF2B5EF4-FFF2-40B4-BE49-F238E27FC236}">
                <a16:creationId xmlns:a16="http://schemas.microsoft.com/office/drawing/2014/main" id="{E498FFB2-52F9-4DFD-B194-69C54CFA7F37}"/>
              </a:ext>
            </a:extLst>
          </p:cNvPr>
          <p:cNvSpPr>
            <a:spLocks xmlns:a="http://schemas.openxmlformats.org/drawingml/2006/main" noGrp="1"/>
          </p:cNvSpPr>
          <p:nvPr/>
        </p:nvSpPr>
        <p:spPr>
          <a:xfrm xmlns:a="http://schemas.openxmlformats.org/drawingml/2006/main">
            <a:off x="8572500" y="4953000"/>
            <a:ext cx="304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Weighted-F1 mean 0,7568</a:t>
            </a:r>
          </a:p>
          <a:p xmlns:a="http://schemas.openxmlformats.org/drawingml/2006/main">
            <a:pPr>
              <a:defRPr sz="1800" b="0">
                <a:solidFill>
                  <a:srgbClr val="526B7D"/>
                </a:solidFill>
                <a:latin typeface="Arial"/>
                <a:ea typeface="Arial"/>
                <a:cs typeface="Arial"/>
              </a:defRPr>
            </a:pPr>
            <a:r>
              <a:rPr sz="1800" b="0">
                <a:solidFill>
                  <a:srgbClr val="526B7D"/>
                </a:solidFill>
                <a:latin typeface="Arial"/>
                <a:ea typeface="Arial"/>
                <a:cs typeface="Arial"/>
              </a:rPr>
              <a:t>Majority Macro-F1 0,2593</a:t>
            </a:r>
          </a:p>
        </p:txBody>
      </p:sp>
    </p:spTree>
    <p:extLst>
      <p:ext uri="{BB962C8B-B14F-4D97-AF65-F5344CB8AC3E}">
        <p14:creationId xmlns:p14="http://schemas.microsoft.com/office/powerpoint/2010/main" val="11580157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A182F0-526A-410B-AFDD-ACF4FA2EF8BB}"/>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PER-CLASS EVALUATION</a:t>
            </a:r>
          </a:p>
        </p:txBody>
      </p:sp>
      <p:sp>
        <p:nvSpPr>
          <p:cNvPr id="2" name="">
            <a:extLst xmlns:a="http://schemas.openxmlformats.org/drawingml/2006/main">
              <a:ext uri="{FF2B5EF4-FFF2-40B4-BE49-F238E27FC236}">
                <a16:creationId xmlns:a16="http://schemas.microsoft.com/office/drawing/2014/main" id="{A3E2EA95-154E-45A0-A7B1-46501E28DF68}"/>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Neutral thường nhầm negative, positive nhầm neutral</a:t>
            </a:r>
          </a:p>
        </p:txBody>
      </p:sp>
      <p:sp>
        <p:nvSpPr>
          <p:cNvPr id="3" name="">
            <a:extLst xmlns:a="http://schemas.openxmlformats.org/drawingml/2006/main">
              <a:ext uri="{FF2B5EF4-FFF2-40B4-BE49-F238E27FC236}">
                <a16:creationId xmlns:a16="http://schemas.microsoft.com/office/drawing/2014/main" id="{4080099B-8124-4669-AA0B-B1092AB39DE0}"/>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DDB62460-95DC-45EE-854E-4FBBACAAD0C5}"/>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13</a:t>
            </a:r>
          </a:p>
        </p:txBody>
      </p:sp>
      <p:graphicFrame>
        <p:nvGraphicFramePr>
          <p:cNvPr id="13" name=""/>
          <p:cNvGraphicFramePr/>
          <p:nvPr/>
        </p:nvGraphicFramePr>
        <p:xfrm>
          <a:off xmlns:a="http://schemas.openxmlformats.org/drawingml/2006/main" x="609600" y="2047875"/>
          <a:ext xmlns:a="http://schemas.openxmlformats.org/drawingml/2006/main" cx="5953125" cy="2743200"/>
        </p:xfrm>
        <a:graphic xmlns:a="http://schemas.openxmlformats.org/drawingml/2006/main">
          <a:graphicData uri="http://schemas.openxmlformats.org/drawingml/2006/table">
            <a:tbl>
              <a:tblPr/>
              <a:tblGrid>
                <a:gridCol w="1809750"/>
                <a:gridCol w="1381125"/>
                <a:gridCol w="1381125"/>
                <a:gridCol w="1381125"/>
              </a:tblGrid>
              <a:tr h="685800">
                <a:tc>
                  <a:txBody>
                    <a:bodyPr/>
                    <a:lstStyle/>
                    <a:p>
                      <a:r>
                        <a:rPr sz="1800" b="1">
                          <a:solidFill>
                            <a:srgbClr val="FFFFFF"/>
                          </a:solidFill>
                          <a:latin typeface="Arial"/>
                          <a:ea typeface="Arial"/>
                          <a:cs typeface="Arial"/>
                        </a:rPr>
                        <a:t>Thật / đoán</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Negative</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Neutral</a:t>
                      </a:r>
                    </a:p>
                  </a:txBody>
                  <a:tcPr marL="114300" marR="114300" marT="95250" marB="95250" anchor="ctr">
                    <a:solidFill>
                      <a:srgbClr val="16344C"/>
                    </a:solidFill>
                  </a:tcPr>
                </a:tc>
                <a:tc>
                  <a:txBody>
                    <a:bodyPr/>
                    <a:lstStyle/>
                    <a:p>
                      <a:r>
                        <a:rPr sz="1800" b="1">
                          <a:solidFill>
                            <a:srgbClr val="FFFFFF"/>
                          </a:solidFill>
                          <a:latin typeface="Arial"/>
                          <a:ea typeface="Arial"/>
                          <a:cs typeface="Arial"/>
                        </a:rPr>
                        <a:t>Positive</a:t>
                      </a:r>
                    </a:p>
                  </a:txBody>
                  <a:tcPr marL="114300" marR="114300" marT="95250" marB="95250" anchor="ctr">
                    <a:solidFill>
                      <a:srgbClr val="16344C"/>
                    </a:solidFill>
                  </a:tcPr>
                </a:tc>
              </a:tr>
              <a:tr h="685800">
                <a:tc>
                  <a:txBody>
                    <a:bodyPr/>
                    <a:lstStyle/>
                    <a:p>
                      <a:r>
                        <a:rPr sz="1800" b="0">
                          <a:solidFill>
                            <a:srgbClr val="16344C"/>
                          </a:solidFill>
                          <a:latin typeface="Arial"/>
                          <a:ea typeface="Arial"/>
                          <a:cs typeface="Arial"/>
                        </a:rPr>
                        <a:t>Negative</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1.153</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170</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45</a:t>
                      </a:r>
                    </a:p>
                  </a:txBody>
                  <a:tcPr marL="114300" marR="114300" marT="95250" marB="95250" anchor="ctr">
                    <a:solidFill>
                      <a:srgbClr val="EEF3F6"/>
                    </a:solidFill>
                  </a:tcPr>
                </a:tc>
              </a:tr>
              <a:tr h="685800">
                <a:tc>
                  <a:txBody>
                    <a:bodyPr/>
                    <a:lstStyle/>
                    <a:p>
                      <a:r>
                        <a:rPr sz="1800" b="0">
                          <a:solidFill>
                            <a:srgbClr val="16344C"/>
                          </a:solidFill>
                          <a:latin typeface="Arial"/>
                          <a:ea typeface="Arial"/>
                          <a:cs typeface="Arial"/>
                        </a:rPr>
                        <a:t>Neutral</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157</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254</a:t>
                      </a:r>
                    </a:p>
                  </a:txBody>
                  <a:tcPr marL="114300" marR="114300" marT="95250" marB="95250" anchor="ctr">
                    <a:solidFill>
                      <a:srgbClr val="FFFFFF"/>
                    </a:solidFill>
                  </a:tcPr>
                </a:tc>
                <a:tc>
                  <a:txBody>
                    <a:bodyPr/>
                    <a:lstStyle/>
                    <a:p>
                      <a:r>
                        <a:rPr sz="1800" b="0">
                          <a:solidFill>
                            <a:srgbClr val="16344C"/>
                          </a:solidFill>
                          <a:latin typeface="Arial"/>
                          <a:ea typeface="Arial"/>
                          <a:cs typeface="Arial"/>
                        </a:rPr>
                        <a:t>37</a:t>
                      </a:r>
                    </a:p>
                  </a:txBody>
                  <a:tcPr marL="114300" marR="114300" marT="95250" marB="95250" anchor="ctr">
                    <a:solidFill>
                      <a:srgbClr val="FFFFFF"/>
                    </a:solidFill>
                  </a:tcPr>
                </a:tc>
              </a:tr>
              <a:tr h="685800">
                <a:tc>
                  <a:txBody>
                    <a:bodyPr/>
                    <a:lstStyle/>
                    <a:p>
                      <a:r>
                        <a:rPr sz="1800" b="0">
                          <a:solidFill>
                            <a:srgbClr val="16344C"/>
                          </a:solidFill>
                          <a:latin typeface="Arial"/>
                          <a:ea typeface="Arial"/>
                          <a:cs typeface="Arial"/>
                        </a:rPr>
                        <a:t>Positive</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41</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79</a:t>
                      </a:r>
                    </a:p>
                  </a:txBody>
                  <a:tcPr marL="114300" marR="114300" marT="95250" marB="95250" anchor="ctr">
                    <a:solidFill>
                      <a:srgbClr val="EEF3F6"/>
                    </a:solidFill>
                  </a:tcPr>
                </a:tc>
                <a:tc>
                  <a:txBody>
                    <a:bodyPr/>
                    <a:lstStyle/>
                    <a:p>
                      <a:r>
                        <a:rPr sz="1800" b="0">
                          <a:solidFill>
                            <a:srgbClr val="16344C"/>
                          </a:solidFill>
                          <a:latin typeface="Arial"/>
                          <a:ea typeface="Arial"/>
                          <a:cs typeface="Arial"/>
                        </a:rPr>
                        <a:t>213</a:t>
                      </a:r>
                    </a:p>
                  </a:txBody>
                  <a:tcPr marL="114300" marR="114300" marT="95250" marB="95250" anchor="ctr">
                    <a:solidFill>
                      <a:srgbClr val="EEF3F6"/>
                    </a:solidFill>
                  </a:tcPr>
                </a:tc>
              </a:tr>
            </a:tbl>
          </a:graphicData>
        </a:graphic>
      </p:graphicFrame>
      <p:graphicFrame>
        <p:nvGraphicFramePr>
          <p:cNvPr id="14" name="Chart"/>
          <p:cNvGraphicFramePr/>
          <p:nvPr/>
        </p:nvGraphicFramePr>
        <p:xfrm>
          <a:off xmlns:a="http://schemas.openxmlformats.org/drawingml/2006/main" x="7000875" y="1905000"/>
          <a:ext xmlns:a="http://schemas.openxmlformats.org/drawingml/2006/main" cx="4572000" cy="3267075"/>
        </p:xfrm>
        <a:graphic xmlns:a="http://schemas.openxmlformats.org/drawingml/2006/main">
          <a:graphicData uri="http://schemas.openxmlformats.org/drawingml/2006/chart">
            <c:chart xmlns:r="http://schemas.openxmlformats.org/officeDocument/2006/relationships" xmlns:c="http://schemas.openxmlformats.org/drawingml/2006/chart" r:id="R3de2175acad64213"/>
          </a:graphicData>
        </a:graphic>
      </p:graphicFrame>
      <p:sp>
        <p:nvSpPr>
          <p:cNvPr id="7" name="">
            <a:extLst xmlns:a="http://schemas.openxmlformats.org/drawingml/2006/main">
              <a:ext uri="{FF2B5EF4-FFF2-40B4-BE49-F238E27FC236}">
                <a16:creationId xmlns:a16="http://schemas.microsoft.com/office/drawing/2014/main" id="{6D824982-8F8D-475B-8F0D-C83371B98895}"/>
              </a:ext>
            </a:extLst>
          </p:cNvPr>
          <p:cNvSpPr>
            <a:spLocks xmlns:a="http://schemas.openxmlformats.org/drawingml/2006/main" noGrp="1"/>
          </p:cNvSpPr>
          <p:nvPr/>
        </p:nvSpPr>
        <p:spPr>
          <a:xfrm xmlns:a="http://schemas.openxmlformats.org/drawingml/2006/main">
            <a:off x="609600" y="54006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344C"/>
                </a:solidFill>
                <a:latin typeface="Arial"/>
                <a:ea typeface="Arial"/>
                <a:cs typeface="Arial"/>
              </a:defRPr>
            </a:pPr>
            <a:r>
              <a:rPr sz="2100" b="1">
                <a:solidFill>
                  <a:srgbClr val="16344C"/>
                </a:solidFill>
                <a:latin typeface="Arial"/>
                <a:ea typeface="Arial"/>
                <a:cs typeface="Arial"/>
              </a:rPr>
              <a:t>79 / 333 positive thành neutral. 157 / 448 neutral thành negative.</a:t>
            </a:r>
          </a:p>
        </p:txBody>
      </p:sp>
      <p:sp>
        <p:nvSpPr>
          <p:cNvPr id="8" name="">
            <a:extLst xmlns:a="http://schemas.openxmlformats.org/drawingml/2006/main">
              <a:ext uri="{FF2B5EF4-FFF2-40B4-BE49-F238E27FC236}">
                <a16:creationId xmlns:a16="http://schemas.microsoft.com/office/drawing/2014/main" id="{B2DA8447-3B41-4449-BFB6-3348C82DBC43}"/>
              </a:ext>
            </a:extLst>
          </p:cNvPr>
          <p:cNvSpPr>
            <a:spLocks xmlns:a="http://schemas.openxmlformats.org/drawingml/2006/main" noGrp="1"/>
          </p:cNvSpPr>
          <p:nvPr/>
        </p:nvSpPr>
        <p:spPr>
          <a:xfrm xmlns:a="http://schemas.openxmlformats.org/drawingml/2006/main">
            <a:off x="609600" y="59626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7D"/>
                </a:solidFill>
                <a:latin typeface="Arial"/>
                <a:ea typeface="Arial"/>
                <a:cs typeface="Arial"/>
              </a:defRPr>
            </a:pPr>
            <a:r>
              <a:rPr sz="1725" b="0">
                <a:solidFill>
                  <a:srgbClr val="526B7D"/>
                </a:solidFill>
                <a:latin typeface="Arial"/>
                <a:ea typeface="Arial"/>
                <a:cs typeface="Arial"/>
              </a:rPr>
              <a:t>Một checkpoint, N=2.149. F1 negative cao nhất trong đánh giá này.</a:t>
            </a:r>
          </a:p>
        </p:txBody>
      </p:sp>
    </p:spTree>
    <p:extLst>
      <p:ext uri="{BB962C8B-B14F-4D97-AF65-F5344CB8AC3E}">
        <p14:creationId xmlns:p14="http://schemas.microsoft.com/office/powerpoint/2010/main" val="11905730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7F6567-EB75-484B-A23D-E53064D8CA9B}"/>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ERROR ANALYSIS</a:t>
            </a:r>
          </a:p>
        </p:txBody>
      </p:sp>
      <p:sp>
        <p:nvSpPr>
          <p:cNvPr id="2" name="">
            <a:extLst xmlns:a="http://schemas.openxmlformats.org/drawingml/2006/main">
              <a:ext uri="{FF2B5EF4-FFF2-40B4-BE49-F238E27FC236}">
                <a16:creationId xmlns:a16="http://schemas.microsoft.com/office/drawing/2014/main" id="{FC027D70-E528-4960-B708-76A150C04DCC}"/>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Lỗi chứa cảm xúc pha trộn và thiếu ngữ cảnh</a:t>
            </a:r>
          </a:p>
        </p:txBody>
      </p:sp>
      <p:sp>
        <p:nvSpPr>
          <p:cNvPr id="3" name="">
            <a:extLst xmlns:a="http://schemas.openxmlformats.org/drawingml/2006/main">
              <a:ext uri="{FF2B5EF4-FFF2-40B4-BE49-F238E27FC236}">
                <a16:creationId xmlns:a16="http://schemas.microsoft.com/office/drawing/2014/main" id="{2428CA4C-EFBA-4BBB-9994-2B7423BEF36F}"/>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1EEEFC8E-E2C2-47FB-B543-04AE643481EF}"/>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08797DA5-0477-4B09-A22A-DC7440303405}"/>
              </a:ext>
            </a:extLst>
          </p:cNvPr>
          <p:cNvSpPr>
            <a:spLocks xmlns:a="http://schemas.openxmlformats.org/drawingml/2006/main" noGrp="1"/>
          </p:cNvSpPr>
          <p:nvPr/>
        </p:nvSpPr>
        <p:spPr>
          <a:xfrm xmlns:a="http://schemas.openxmlformats.org/drawingml/2006/main">
            <a:off x="609600" y="19335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8658C"/>
                </a:solidFill>
                <a:latin typeface="Arial"/>
                <a:ea typeface="Arial"/>
                <a:cs typeface="Arial"/>
              </a:defRPr>
            </a:pPr>
            <a:r>
              <a:rPr sz="2175" b="1">
                <a:solidFill>
                  <a:srgbClr val="28658C"/>
                </a:solidFill>
                <a:latin typeface="Arial"/>
                <a:ea typeface="Arial"/>
                <a:cs typeface="Arial"/>
              </a:rPr>
              <a:t>Tweet 9332   negative, dự đoán positive</a:t>
            </a:r>
          </a:p>
        </p:txBody>
      </p:sp>
      <p:sp>
        <p:nvSpPr>
          <p:cNvPr id="6" name="">
            <a:extLst xmlns:a="http://schemas.openxmlformats.org/drawingml/2006/main">
              <a:ext uri="{FF2B5EF4-FFF2-40B4-BE49-F238E27FC236}">
                <a16:creationId xmlns:a16="http://schemas.microsoft.com/office/drawing/2014/main" id="{C148EB3C-1AF3-4622-B2EF-A9E503844051}"/>
              </a:ext>
            </a:extLst>
          </p:cNvPr>
          <p:cNvSpPr>
            <a:spLocks xmlns:a="http://schemas.openxmlformats.org/drawingml/2006/main" noGrp="1"/>
          </p:cNvSpPr>
          <p:nvPr/>
        </p:nvSpPr>
        <p:spPr>
          <a:xfrm xmlns:a="http://schemas.openxmlformats.org/drawingml/2006/main">
            <a:off x="609600" y="24479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44C"/>
                </a:solidFill>
                <a:latin typeface="Arial"/>
                <a:ea typeface="Arial"/>
                <a:cs typeface="Arial"/>
              </a:defRPr>
            </a:pPr>
            <a:r>
              <a:rPr sz="2100" b="0">
                <a:solidFill>
                  <a:srgbClr val="16344C"/>
                </a:solidFill>
                <a:latin typeface="Arial"/>
                <a:ea typeface="Arial"/>
                <a:cs typeface="Arial"/>
              </a:rPr>
              <a:t>“awesome... Doors close in 2 minutes ... WTH?”</a:t>
            </a:r>
          </a:p>
          <a:p xmlns:a="http://schemas.openxmlformats.org/drawingml/2006/main">
            <a:pPr>
              <a:defRPr sz="2100" b="0">
                <a:solidFill>
                  <a:srgbClr val="16344C"/>
                </a:solidFill>
                <a:latin typeface="Arial"/>
                <a:ea typeface="Arial"/>
                <a:cs typeface="Arial"/>
              </a:defRPr>
            </a:pPr>
            <a:r>
              <a:rPr sz="2100" b="0">
                <a:solidFill>
                  <a:srgbClr val="16344C"/>
                </a:solidFill>
                <a:latin typeface="Arial"/>
                <a:ea typeface="Arial"/>
                <a:cs typeface="Arial"/>
              </a:rPr>
              <a:t>Lời khen đối lập sự cố, ứng viên mỉa mai cần nhóm rà soát</a:t>
            </a:r>
          </a:p>
        </p:txBody>
      </p:sp>
      <p:sp>
        <p:nvSpPr>
          <p:cNvPr id="7" name="">
            <a:extLst xmlns:a="http://schemas.openxmlformats.org/drawingml/2006/main">
              <a:ext uri="{FF2B5EF4-FFF2-40B4-BE49-F238E27FC236}">
                <a16:creationId xmlns:a16="http://schemas.microsoft.com/office/drawing/2014/main" id="{FC2CD36D-1191-4219-84E7-30DEBF9EFC71}"/>
              </a:ext>
            </a:extLst>
          </p:cNvPr>
          <p:cNvSpPr>
            <a:spLocks xmlns:a="http://schemas.openxmlformats.org/drawingml/2006/main" noGrp="1"/>
          </p:cNvSpPr>
          <p:nvPr/>
        </p:nvSpPr>
        <p:spPr>
          <a:xfrm xmlns:a="http://schemas.openxmlformats.org/drawingml/2006/main">
            <a:off x="609600" y="36671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8658C"/>
                </a:solidFill>
                <a:latin typeface="Arial"/>
                <a:ea typeface="Arial"/>
                <a:cs typeface="Arial"/>
              </a:defRPr>
            </a:pPr>
            <a:r>
              <a:rPr sz="2175" b="1">
                <a:solidFill>
                  <a:srgbClr val="28658C"/>
                </a:solidFill>
                <a:latin typeface="Arial"/>
                <a:ea typeface="Arial"/>
                <a:cs typeface="Arial"/>
              </a:rPr>
              <a:t>Tweet 1537   negative, dự đoán positive</a:t>
            </a:r>
          </a:p>
        </p:txBody>
      </p:sp>
      <p:sp>
        <p:nvSpPr>
          <p:cNvPr id="8" name="">
            <a:extLst xmlns:a="http://schemas.openxmlformats.org/drawingml/2006/main">
              <a:ext uri="{FF2B5EF4-FFF2-40B4-BE49-F238E27FC236}">
                <a16:creationId xmlns:a16="http://schemas.microsoft.com/office/drawing/2014/main" id="{B923379B-6204-4802-A46A-27307FF64D61}"/>
              </a:ext>
            </a:extLst>
          </p:cNvPr>
          <p:cNvSpPr>
            <a:spLocks xmlns:a="http://schemas.openxmlformats.org/drawingml/2006/main" noGrp="1"/>
          </p:cNvSpPr>
          <p:nvPr/>
        </p:nvSpPr>
        <p:spPr>
          <a:xfrm xmlns:a="http://schemas.openxmlformats.org/drawingml/2006/main">
            <a:off x="609600" y="4171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44C"/>
                </a:solidFill>
                <a:latin typeface="Arial"/>
                <a:ea typeface="Arial"/>
                <a:cs typeface="Arial"/>
              </a:defRPr>
            </a:pPr>
            <a:r>
              <a:rPr sz="2100" b="0">
                <a:solidFill>
                  <a:srgbClr val="16344C"/>
                </a:solidFill>
                <a:latin typeface="Arial"/>
                <a:ea typeface="Arial"/>
                <a:cs typeface="Arial"/>
              </a:rPr>
              <a:t>“good try but @SouthwestAir got her here safer and sooner”</a:t>
            </a:r>
          </a:p>
          <a:p xmlns:a="http://schemas.openxmlformats.org/drawingml/2006/main">
            <a:pPr>
              <a:defRPr sz="2100" b="0">
                <a:solidFill>
                  <a:srgbClr val="16344C"/>
                </a:solidFill>
                <a:latin typeface="Arial"/>
                <a:ea typeface="Arial"/>
                <a:cs typeface="Arial"/>
              </a:defRPr>
            </a:pPr>
            <a:r>
              <a:rPr sz="2100" b="0">
                <a:solidFill>
                  <a:srgbClr val="16344C"/>
                </a:solidFill>
                <a:latin typeface="Arial"/>
                <a:ea typeface="Arial"/>
                <a:cs typeface="Arial"/>
              </a:rPr>
              <a:t>Hai hãng, hai mục tiêu cảm xúc. P0 gộp mentions thành usermarker</a:t>
            </a:r>
          </a:p>
        </p:txBody>
      </p:sp>
      <p:sp>
        <p:nvSpPr>
          <p:cNvPr id="9" name="">
            <a:extLst xmlns:a="http://schemas.openxmlformats.org/drawingml/2006/main">
              <a:ext uri="{FF2B5EF4-FFF2-40B4-BE49-F238E27FC236}">
                <a16:creationId xmlns:a16="http://schemas.microsoft.com/office/drawing/2014/main" id="{08E1E1BE-2F8D-43CA-8C31-7F70452CD9B6}"/>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B7D"/>
                </a:solidFill>
                <a:latin typeface="Arial"/>
                <a:ea typeface="Arial"/>
                <a:cs typeface="Arial"/>
              </a:defRPr>
            </a:pPr>
            <a:r>
              <a:rPr sz="1725" b="0">
                <a:solidFill>
                  <a:srgbClr val="526B7D"/>
                </a:solidFill>
                <a:latin typeface="Arial"/>
                <a:ea typeface="Arial"/>
                <a:cs typeface="Arial"/>
              </a:rPr>
              <a:t>85 case đã có nhận xét của trợ lý. Chưa có hai người review độc lập.</a:t>
            </a:r>
          </a:p>
          <a:p xmlns:a="http://schemas.openxmlformats.org/drawingml/2006/main">
            <a:pPr>
              <a:defRPr sz="1725" b="0">
                <a:solidFill>
                  <a:srgbClr val="526B7D"/>
                </a:solidFill>
                <a:latin typeface="Arial"/>
                <a:ea typeface="Arial"/>
                <a:cs typeface="Arial"/>
              </a:defRPr>
            </a:pPr>
            <a:r>
              <a:rPr sz="1725" b="0">
                <a:solidFill>
                  <a:srgbClr val="526B7D"/>
                </a:solidFill>
                <a:latin typeface="Arial"/>
                <a:ea typeface="Arial"/>
                <a:cs typeface="Arial"/>
              </a:rPr>
              <a:t>Case có chủ đích không ước tính tỷ lệ sarcasm của toàn dataset.</a:t>
            </a:r>
          </a:p>
        </p:txBody>
      </p:sp>
    </p:spTree>
    <p:extLst>
      <p:ext uri="{BB962C8B-B14F-4D97-AF65-F5344CB8AC3E}">
        <p14:creationId xmlns:p14="http://schemas.microsoft.com/office/powerpoint/2010/main" val="14863955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F4DE40-9663-4592-AA83-4EB6D20A098E}"/>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INFERENCE</a:t>
            </a:r>
          </a:p>
        </p:txBody>
      </p:sp>
      <p:sp>
        <p:nvSpPr>
          <p:cNvPr id="2" name="">
            <a:extLst xmlns:a="http://schemas.openxmlformats.org/drawingml/2006/main">
              <a:ext uri="{FF2B5EF4-FFF2-40B4-BE49-F238E27FC236}">
                <a16:creationId xmlns:a16="http://schemas.microsoft.com/office/drawing/2014/main" id="{11BB1F65-43BC-423B-81B7-64141CAE4158}"/>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Demo tải đúng checkpoint đã đánh giá</a:t>
            </a:r>
          </a:p>
        </p:txBody>
      </p:sp>
      <p:sp>
        <p:nvSpPr>
          <p:cNvPr id="3" name="">
            <a:extLst xmlns:a="http://schemas.openxmlformats.org/drawingml/2006/main">
              <a:ext uri="{FF2B5EF4-FFF2-40B4-BE49-F238E27FC236}">
                <a16:creationId xmlns:a16="http://schemas.microsoft.com/office/drawing/2014/main" id="{9D74137A-80BC-4A82-A213-54E508ABC70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4D31FA24-6996-4C7C-9139-5517C77722AE}"/>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5bfb3010714cea"/>
          <a:stretch xmlns:a="http://schemas.openxmlformats.org/drawingml/2006/main"/>
        </p:blipFill>
        <p:spPr>
          <a:xfrm xmlns:a="http://schemas.openxmlformats.org/drawingml/2006/main">
            <a:off x="563274" y="1743075"/>
            <a:ext cx="7398327" cy="4238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384AFF-1F13-441B-B9CE-768D576C4860}"/>
              </a:ext>
            </a:extLst>
          </p:cNvPr>
          <p:cNvSpPr>
            <a:spLocks xmlns:a="http://schemas.openxmlformats.org/drawingml/2006/main" noGrp="1"/>
          </p:cNvSpPr>
          <p:nvPr/>
        </p:nvSpPr>
        <p:spPr>
          <a:xfrm xmlns:a="http://schemas.openxmlformats.org/drawingml/2006/main">
            <a:off x="8429625" y="2009775"/>
            <a:ext cx="31432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44C"/>
                </a:solidFill>
                <a:latin typeface="Arial"/>
                <a:ea typeface="Arial"/>
                <a:cs typeface="Arial"/>
              </a:defRPr>
            </a:pPr>
            <a:r>
              <a:rPr sz="2175" b="1">
                <a:solidFill>
                  <a:srgbClr val="16344C"/>
                </a:solidFill>
                <a:latin typeface="Arial"/>
                <a:ea typeface="Arial"/>
                <a:cs typeface="Arial"/>
              </a:rPr>
              <a:t>B5-balanced, seed 3407</a:t>
            </a:r>
          </a:p>
          <a:p xmlns:a="http://schemas.openxmlformats.org/drawingml/2006/main">
            <a:pPr>
              <a:defRPr sz="2175" b="1">
                <a:solidFill>
                  <a:srgbClr val="16344C"/>
                </a:solidFill>
                <a:latin typeface="Arial"/>
                <a:ea typeface="Arial"/>
                <a:cs typeface="Arial"/>
              </a:defRPr>
            </a:pPr>
            <a:r>
              <a:rPr sz="2175" b="1">
                <a:solidFill>
                  <a:srgbClr val="16344C"/>
                </a:solidFill>
                <a:latin typeface="Arial"/>
                <a:ea typeface="Arial"/>
                <a:cs typeface="Arial"/>
              </a:rPr>
              <a:t>Checkpoint epoch 16</a:t>
            </a:r>
          </a:p>
          <a:p xmlns:a="http://schemas.openxmlformats.org/drawingml/2006/main">
            <a:r>
              <a:t/>
            </a:r>
          </a:p>
          <a:p xmlns:a="http://schemas.openxmlformats.org/drawingml/2006/main">
            <a:pPr>
              <a:defRPr sz="2175" b="1">
                <a:solidFill>
                  <a:srgbClr val="16344C"/>
                </a:solidFill>
                <a:latin typeface="Arial"/>
                <a:ea typeface="Arial"/>
                <a:cs typeface="Arial"/>
              </a:defRPr>
            </a:pPr>
            <a:r>
              <a:rPr sz="2175" b="1">
                <a:solidFill>
                  <a:srgbClr val="16344C"/>
                </a:solidFill>
                <a:latin typeface="Arial"/>
                <a:ea typeface="Arial"/>
                <a:cs typeface="Arial"/>
              </a:rPr>
              <a:t>Nhập tweet tiếng Anh</a:t>
            </a:r>
          </a:p>
          <a:p xmlns:a="http://schemas.openxmlformats.org/drawingml/2006/main">
            <a:pPr>
              <a:defRPr sz="2175" b="1">
                <a:solidFill>
                  <a:srgbClr val="16344C"/>
                </a:solidFill>
                <a:latin typeface="Arial"/>
                <a:ea typeface="Arial"/>
                <a:cs typeface="Arial"/>
              </a:defRPr>
            </a:pPr>
            <a:r>
              <a:rPr sz="2175" b="1">
                <a:solidFill>
                  <a:srgbClr val="16344C"/>
                </a:solidFill>
                <a:latin typeface="Arial"/>
                <a:ea typeface="Arial"/>
                <a:cs typeface="Arial"/>
              </a:rPr>
              <a:t>Nhận nhãn và 3 xác suất</a:t>
            </a:r>
          </a:p>
        </p:txBody>
      </p:sp>
      <p:sp>
        <p:nvSpPr>
          <p:cNvPr id="7" name="">
            <a:extLst xmlns:a="http://schemas.openxmlformats.org/drawingml/2006/main">
              <a:ext uri="{FF2B5EF4-FFF2-40B4-BE49-F238E27FC236}">
                <a16:creationId xmlns:a16="http://schemas.microsoft.com/office/drawing/2014/main" id="{B81E04BD-C51C-47D7-8980-F2D7493DEEEA}"/>
              </a:ext>
            </a:extLst>
          </p:cNvPr>
          <p:cNvSpPr>
            <a:spLocks xmlns:a="http://schemas.openxmlformats.org/drawingml/2006/main" noGrp="1"/>
          </p:cNvSpPr>
          <p:nvPr/>
        </p:nvSpPr>
        <p:spPr>
          <a:xfrm xmlns:a="http://schemas.openxmlformats.org/drawingml/2006/main">
            <a:off x="8429625" y="4657725"/>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Địa chỉ local</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127.0.0.1:8765</a:t>
            </a:r>
          </a:p>
          <a:p xmlns:a="http://schemas.openxmlformats.org/drawingml/2006/main">
            <a:r>
              <a:t/>
            </a:r>
          </a:p>
          <a:p xmlns:a="http://schemas.openxmlformats.org/drawingml/2006/main">
            <a:pPr>
              <a:defRPr sz="1875" b="0">
                <a:solidFill>
                  <a:srgbClr val="526B7D"/>
                </a:solidFill>
                <a:latin typeface="Arial"/>
                <a:ea typeface="Arial"/>
                <a:cs typeface="Arial"/>
              </a:defRPr>
            </a:pPr>
            <a:r>
              <a:rPr sz="1875" b="0">
                <a:solidFill>
                  <a:srgbClr val="526B7D"/>
                </a:solidFill>
                <a:latin typeface="Arial"/>
                <a:ea typeface="Arial"/>
                <a:cs typeface="Arial"/>
              </a:rPr>
              <a:t>Softmax chưa calibration</a:t>
            </a:r>
          </a:p>
        </p:txBody>
      </p:sp>
    </p:spTree>
    <p:extLst>
      <p:ext uri="{BB962C8B-B14F-4D97-AF65-F5344CB8AC3E}">
        <p14:creationId xmlns:p14="http://schemas.microsoft.com/office/powerpoint/2010/main" val="17344793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3263DB-B513-402A-A55A-3FECC4E89FDD}"/>
              </a:ext>
            </a:extLst>
          </p:cNvPr>
          <p:cNvSpPr>
            <a:spLocks xmlns:a="http://schemas.openxmlformats.org/drawingml/2006/main" noGrp="1"/>
          </p:cNvSpPr>
          <p:nvPr/>
        </p:nvSpPr>
        <p:spPr>
          <a:xfrm xmlns:a="http://schemas.openxmlformats.org/drawingml/2006/main">
            <a:off x="609600" y="2857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26B7D"/>
                </a:solidFill>
                <a:latin typeface="Arial"/>
                <a:ea typeface="Arial"/>
                <a:cs typeface="Arial"/>
              </a:defRPr>
            </a:pPr>
            <a:r>
              <a:rPr sz="1200" b="1">
                <a:solidFill>
                  <a:srgbClr val="526B7D"/>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90836175-5984-4FB9-8304-8D027E143FE7}"/>
              </a:ext>
            </a:extLst>
          </p:cNvPr>
          <p:cNvSpPr>
            <a:spLocks xmlns:a="http://schemas.openxmlformats.org/drawingml/2006/main" noGrp="1"/>
          </p:cNvSpPr>
          <p:nvPr/>
        </p:nvSpPr>
        <p:spPr>
          <a:xfrm xmlns:a="http://schemas.openxmlformats.org/drawingml/2006/main">
            <a:off x="609600" y="714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C"/>
                </a:solidFill>
                <a:latin typeface="Arial"/>
                <a:ea typeface="Arial"/>
                <a:cs typeface="Arial"/>
              </a:defRPr>
            </a:pPr>
            <a:r>
              <a:rPr sz="3225" b="1">
                <a:solidFill>
                  <a:srgbClr val="16344C"/>
                </a:solidFill>
                <a:latin typeface="Arial"/>
                <a:ea typeface="Arial"/>
                <a:cs typeface="Arial"/>
              </a:rPr>
              <a:t>Kết quả có thể truy vết, neutral còn là hạn chế</a:t>
            </a:r>
          </a:p>
        </p:txBody>
      </p:sp>
      <p:sp>
        <p:nvSpPr>
          <p:cNvPr id="3" name="">
            <a:extLst xmlns:a="http://schemas.openxmlformats.org/drawingml/2006/main">
              <a:ext uri="{FF2B5EF4-FFF2-40B4-BE49-F238E27FC236}">
                <a16:creationId xmlns:a16="http://schemas.microsoft.com/office/drawing/2014/main" id="{5902EE8E-3B35-4FDF-A1DE-680768F29655}"/>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D"/>
                </a:solidFill>
                <a:latin typeface="Arial"/>
                <a:ea typeface="Arial"/>
                <a:cs typeface="Arial"/>
              </a:defRPr>
            </a:pPr>
            <a:r>
              <a:rPr sz="1200" b="0">
                <a:solidFill>
                  <a:srgbClr val="526B7D"/>
                </a:solidFill>
                <a:latin typeface="Arial"/>
                <a:ea typeface="Arial"/>
                <a:cs typeface="Arial"/>
              </a:rPr>
              <a:t>Deep Learning   ·   Airline Sentiment Analysis</a:t>
            </a:r>
          </a:p>
        </p:txBody>
      </p:sp>
      <p:sp>
        <p:nvSpPr>
          <p:cNvPr id="4" name="">
            <a:extLst xmlns:a="http://schemas.openxmlformats.org/drawingml/2006/main">
              <a:ext uri="{FF2B5EF4-FFF2-40B4-BE49-F238E27FC236}">
                <a16:creationId xmlns:a16="http://schemas.microsoft.com/office/drawing/2014/main" id="{12802AA5-5775-402F-B1BE-A9396FDF8255}"/>
              </a:ext>
            </a:extLst>
          </p:cNvPr>
          <p:cNvSpPr>
            <a:spLocks xmlns:a="http://schemas.openxmlformats.org/drawingml/2006/main" noGrp="1"/>
          </p:cNvSpPr>
          <p:nvPr/>
        </p:nvSpPr>
        <p:spPr>
          <a:xfrm xmlns:a="http://schemas.openxmlformats.org/drawingml/2006/main">
            <a:off x="11001375"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D"/>
                </a:solidFill>
                <a:latin typeface="Arial"/>
                <a:ea typeface="Arial"/>
                <a:cs typeface="Arial"/>
              </a:defRPr>
            </a:pPr>
            <a:r>
              <a:rPr sz="1350" b="0">
                <a:solidFill>
                  <a:srgbClr val="526B7D"/>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DCCB270F-BAC6-4348-820B-5A45D01F4E4F}"/>
              </a:ext>
            </a:extLst>
          </p:cNvPr>
          <p:cNvSpPr>
            <a:spLocks xmlns:a="http://schemas.openxmlformats.org/drawingml/2006/main" noGrp="1"/>
          </p:cNvSpPr>
          <p:nvPr/>
        </p:nvSpPr>
        <p:spPr>
          <a:xfrm xmlns:a="http://schemas.openxmlformats.org/drawingml/2006/main">
            <a:off x="609600" y="1924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344C"/>
                </a:solidFill>
                <a:latin typeface="Arial"/>
                <a:ea typeface="Arial"/>
                <a:cs typeface="Arial"/>
              </a:defRPr>
            </a:pPr>
            <a:r>
              <a:rPr sz="2475" b="1">
                <a:solidFill>
                  <a:srgbClr val="16344C"/>
                </a:solidFill>
                <a:latin typeface="Arial"/>
                <a:ea typeface="Arial"/>
                <a:cs typeface="Arial"/>
              </a:rPr>
              <a:t>22 run RNN với checkpoint, history và prediction đã lưu</a:t>
            </a:r>
          </a:p>
        </p:txBody>
      </p:sp>
      <p:sp>
        <p:nvSpPr>
          <p:cNvPr id="6" name="">
            <a:extLst xmlns:a="http://schemas.openxmlformats.org/drawingml/2006/main">
              <a:ext uri="{FF2B5EF4-FFF2-40B4-BE49-F238E27FC236}">
                <a16:creationId xmlns:a16="http://schemas.microsoft.com/office/drawing/2014/main" id="{588A19F4-8010-4106-9841-D401841FD032}"/>
              </a:ext>
            </a:extLst>
          </p:cNvPr>
          <p:cNvSpPr>
            <a:spLocks xmlns:a="http://schemas.openxmlformats.org/drawingml/2006/main" noGrp="1"/>
          </p:cNvSpPr>
          <p:nvPr/>
        </p:nvSpPr>
        <p:spPr>
          <a:xfrm xmlns:a="http://schemas.openxmlformats.org/drawingml/2006/main">
            <a:off x="609600" y="2886075"/>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44C"/>
                </a:solidFill>
                <a:latin typeface="Arial"/>
                <a:ea typeface="Arial"/>
                <a:cs typeface="Arial"/>
              </a:defRPr>
            </a:pPr>
            <a:r>
              <a:rPr sz="2175" b="0">
                <a:solidFill>
                  <a:srgbClr val="16344C"/>
                </a:solidFill>
                <a:latin typeface="Arial"/>
                <a:ea typeface="Arial"/>
                <a:cs typeface="Arial"/>
              </a:rPr>
              <a:t>Class weighting nâng Macro-F1 trong miền đã khảo sát</a:t>
            </a:r>
          </a:p>
          <a:p xmlns:a="http://schemas.openxmlformats.org/drawingml/2006/main">
            <a:pPr>
              <a:defRPr sz="2175" b="0">
                <a:solidFill>
                  <a:srgbClr val="16344C"/>
                </a:solidFill>
                <a:latin typeface="Arial"/>
                <a:ea typeface="Arial"/>
                <a:cs typeface="Arial"/>
              </a:defRPr>
            </a:pPr>
            <a:r>
              <a:rPr sz="2175" b="0">
                <a:solidFill>
                  <a:srgbClr val="16344C"/>
                </a:solidFill>
                <a:latin typeface="Arial"/>
                <a:ea typeface="Arial"/>
                <a:cs typeface="Arial"/>
              </a:rPr>
              <a:t>T60 thêm PAD và chi phí, không thêm nội dung văn bản</a:t>
            </a:r>
          </a:p>
          <a:p xmlns:a="http://schemas.openxmlformats.org/drawingml/2006/main">
            <a:pPr>
              <a:defRPr sz="2175" b="0">
                <a:solidFill>
                  <a:srgbClr val="16344C"/>
                </a:solidFill>
                <a:latin typeface="Arial"/>
                <a:ea typeface="Arial"/>
                <a:cs typeface="Arial"/>
              </a:defRPr>
            </a:pPr>
            <a:r>
              <a:rPr sz="2175" b="0">
                <a:solidFill>
                  <a:srgbClr val="16344C"/>
                </a:solidFill>
                <a:latin typeface="Arial"/>
                <a:ea typeface="Arial"/>
                <a:cs typeface="Arial"/>
              </a:rPr>
              <a:t>Model cuối có demo dùng cùng preprocessing và label map</a:t>
            </a:r>
          </a:p>
        </p:txBody>
      </p:sp>
      <p:sp>
        <p:nvSpPr>
          <p:cNvPr id="7" name="">
            <a:extLst xmlns:a="http://schemas.openxmlformats.org/drawingml/2006/main">
              <a:ext uri="{FF2B5EF4-FFF2-40B4-BE49-F238E27FC236}">
                <a16:creationId xmlns:a16="http://schemas.microsoft.com/office/drawing/2014/main" id="{9DC0E64D-AF57-4BE0-A92B-ED216744C740}"/>
              </a:ext>
            </a:extLst>
          </p:cNvPr>
          <p:cNvSpPr>
            <a:spLocks xmlns:a="http://schemas.openxmlformats.org/drawingml/2006/main" noGrp="1"/>
          </p:cNvSpPr>
          <p:nvPr/>
        </p:nvSpPr>
        <p:spPr>
          <a:xfrm xmlns:a="http://schemas.openxmlformats.org/drawingml/2006/main">
            <a:off x="609600" y="47053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658C"/>
                </a:solidFill>
                <a:latin typeface="Arial"/>
                <a:ea typeface="Arial"/>
                <a:cs typeface="Arial"/>
              </a:defRPr>
            </a:pPr>
            <a:r>
              <a:rPr sz="2250" b="1">
                <a:solidFill>
                  <a:srgbClr val="28658C"/>
                </a:solidFill>
                <a:latin typeface="Arial"/>
                <a:ea typeface="Arial"/>
                <a:cs typeface="Arial"/>
              </a:rPr>
              <a:t>Giới hạn của kết luận</a:t>
            </a:r>
          </a:p>
        </p:txBody>
      </p:sp>
      <p:sp>
        <p:nvSpPr>
          <p:cNvPr id="8" name="">
            <a:extLst xmlns:a="http://schemas.openxmlformats.org/drawingml/2006/main">
              <a:ext uri="{FF2B5EF4-FFF2-40B4-BE49-F238E27FC236}">
                <a16:creationId xmlns:a16="http://schemas.microsoft.com/office/drawing/2014/main" id="{57D20283-730C-480C-9233-D0D79B40C9AF}"/>
              </a:ext>
            </a:extLst>
          </p:cNvPr>
          <p:cNvSpPr>
            <a:spLocks xmlns:a="http://schemas.openxmlformats.org/drawingml/2006/main" noGrp="1"/>
          </p:cNvSpPr>
          <p:nvPr/>
        </p:nvSpPr>
        <p:spPr>
          <a:xfrm xmlns:a="http://schemas.openxmlformats.org/drawingml/2006/main">
            <a:off x="609600" y="52673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D"/>
                </a:solidFill>
                <a:latin typeface="Arial"/>
                <a:ea typeface="Arial"/>
                <a:cs typeface="Arial"/>
              </a:defRPr>
            </a:pPr>
            <a:r>
              <a:rPr sz="1950" b="0">
                <a:solidFill>
                  <a:srgbClr val="526B7D"/>
                </a:solidFill>
                <a:latin typeface="Arial"/>
                <a:ea typeface="Arial"/>
                <a:cs typeface="Arial"/>
              </a:rPr>
              <a:t>Một split, ba training seeds, tweet tiếng Anh trong một miền</a:t>
            </a:r>
          </a:p>
          <a:p xmlns:a="http://schemas.openxmlformats.org/drawingml/2006/main">
            <a:pPr>
              <a:defRPr sz="1950" b="0">
                <a:solidFill>
                  <a:srgbClr val="526B7D"/>
                </a:solidFill>
                <a:latin typeface="Arial"/>
                <a:ea typeface="Arial"/>
                <a:cs typeface="Arial"/>
              </a:defRPr>
            </a:pPr>
            <a:r>
              <a:rPr sz="1950" b="0">
                <a:solidFill>
                  <a:srgbClr val="526B7D"/>
                </a:solidFill>
                <a:latin typeface="Arial"/>
                <a:ea typeface="Arial"/>
                <a:cs typeface="Arial"/>
              </a:rPr>
              <a:t>Chưa human adjudication, calibration hoặc chạy lại trên cloud</a:t>
            </a:r>
          </a:p>
          <a:p xmlns:a="http://schemas.openxmlformats.org/drawingml/2006/main">
            <a:pPr>
              <a:defRPr sz="1950" b="0">
                <a:solidFill>
                  <a:srgbClr val="526B7D"/>
                </a:solidFill>
                <a:latin typeface="Arial"/>
                <a:ea typeface="Arial"/>
                <a:cs typeface="Arial"/>
              </a:defRPr>
            </a:pPr>
            <a:r>
              <a:rPr sz="1950" b="0">
                <a:solidFill>
                  <a:srgbClr val="526B7D"/>
                </a:solidFill>
                <a:latin typeface="Arial"/>
                <a:ea typeface="Arial"/>
                <a:cs typeface="Arial"/>
              </a:rPr>
              <a:t>Mở rộng cần holdout mới, giữ RNN là mô hình trọng tâm</a:t>
            </a:r>
          </a:p>
        </p:txBody>
      </p:sp>
    </p:spTree>
    <p:extLst>
      <p:ext uri="{BB962C8B-B14F-4D97-AF65-F5344CB8AC3E}">
        <p14:creationId xmlns:p14="http://schemas.microsoft.com/office/powerpoint/2010/main" val="1037612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2026-10-06T06:35:29.7350000Z</dcterms:created>
  <dcterms:modified xsi:type="dcterms:W3CDTF">2026-10-06T06:35:29.7350000Z</dcterms:modified>
</coreProperties>
</file>